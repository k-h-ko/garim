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30" autoAdjust="0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132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3731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96215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1976D2"/>
          </a:solidFill>
          <a:ln/>
          <a:effectLst>
            <a:outerShdw blurRad="9525" dist="28575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33500" y="1962150"/>
            <a:ext cx="461759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GARIM · SYSTEM STRUCTURE V1.0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314700"/>
            <a:ext cx="16952976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0" b="1" kern="0" spc="-262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Garim</a:t>
            </a:r>
            <a:endParaRPr lang="en-US" sz="9300" dirty="0"/>
          </a:p>
        </p:txBody>
      </p:sp>
      <p:sp>
        <p:nvSpPr>
          <p:cNvPr id="6" name="Text 4"/>
          <p:cNvSpPr/>
          <p:nvPr/>
        </p:nvSpPr>
        <p:spPr>
          <a:xfrm>
            <a:off x="914400" y="4495800"/>
            <a:ext cx="16952976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0" b="1" kern="0" spc="-262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아키텍처</a:t>
            </a:r>
            <a:endParaRPr lang="en-US" sz="9300" dirty="0"/>
          </a:p>
        </p:txBody>
      </p:sp>
      <p:sp>
        <p:nvSpPr>
          <p:cNvPr id="7" name="Text 5"/>
          <p:cNvSpPr/>
          <p:nvPr/>
        </p:nvSpPr>
        <p:spPr>
          <a:xfrm>
            <a:off x="914400" y="6057900"/>
            <a:ext cx="1695297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kern="0" spc="-37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플로우 · 스트럭쳐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14400" y="6819900"/>
            <a:ext cx="117729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멀티모달 도싱 방지 엔진의 아키텍처와 핵심 처리 흐름. 4개의 다이어그램으로 MVP1·v1 정식·v2 범위와 처리 단계를 한 장에 모은 Container 수준 명세.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14400" y="8096250"/>
            <a:ext cx="264795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9525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90625" y="8277225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000000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90625" y="8601075"/>
            <a:ext cx="21717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2026-05-14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752850" y="8096250"/>
            <a:ext cx="264795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9525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9075" y="8277225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000000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29075" y="8601075"/>
            <a:ext cx="21717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591300" y="8096250"/>
            <a:ext cx="264795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9525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67525" y="8277225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000000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67525" y="8601075"/>
            <a:ext cx="21717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429750" y="8096250"/>
            <a:ext cx="3272433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9525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705975" y="8277225"/>
            <a:ext cx="28015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000000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705975" y="8601075"/>
            <a:ext cx="353034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 v5 · Pretendard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304925"/>
            <a:ext cx="164592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904875"/>
            <a:ext cx="76200" cy="762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4" name="Text 2"/>
          <p:cNvSpPr/>
          <p:nvPr/>
        </p:nvSpPr>
        <p:spPr>
          <a:xfrm>
            <a:off x="1123950" y="809625"/>
            <a:ext cx="27092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3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 · 단계 표기 가이드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384339" y="762000"/>
            <a:ext cx="10654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57350"/>
            <a:ext cx="1695297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7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목차와 단계별 색상 코딩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914400" y="2628900"/>
            <a:ext cx="82802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 — 12 슬라이드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009900"/>
            <a:ext cx="80391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000000">
                <a:alpha val="1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375" y="3152775"/>
            <a:ext cx="9334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04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81225" y="3286125"/>
            <a:ext cx="53891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시스템 아키텍처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42027" y="3286125"/>
            <a:ext cx="12066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TD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924300"/>
            <a:ext cx="80391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000000">
                <a:alpha val="1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5375" y="4067175"/>
            <a:ext cx="9334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06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81225" y="4200525"/>
            <a:ext cx="43702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검출 시퀀스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52766" y="4200525"/>
            <a:ext cx="21959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sequenceDiagram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4838700"/>
            <a:ext cx="8039100" cy="819150"/>
          </a:xfrm>
          <a:prstGeom prst="roundRect">
            <a:avLst>
              <a:gd name="adj" fmla="val 9302"/>
            </a:avLst>
          </a:prstGeom>
          <a:solidFill>
            <a:srgbClr val="ED6C02">
              <a:alpha val="6000"/>
            </a:srgbClr>
          </a:solidFill>
          <a:ln w="9525">
            <a:solidFill>
              <a:srgbClr val="ED6C02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5375" y="4981575"/>
            <a:ext cx="9334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08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81225" y="5114925"/>
            <a:ext cx="43702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치환 시퀀스 </a:t>
            </a:r>
            <a:r>
              <a:rPr lang="en-US" sz="1800" b="1" dirty="0">
                <a:solidFill>
                  <a:srgbClr val="ED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</a:t>
            </a:r>
            <a:r>
              <a:rPr lang="en-US" sz="18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52766" y="5114925"/>
            <a:ext cx="21959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sequenceDiagram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4400" y="5753100"/>
            <a:ext cx="80391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000000">
                <a:alpha val="1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5375" y="5895975"/>
            <a:ext cx="9334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— 10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181225" y="6029325"/>
            <a:ext cx="43702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SNS 셀프 점검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52766" y="6029325"/>
            <a:ext cx="21959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sequenceDiagram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6667500"/>
            <a:ext cx="80391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0000">
                <a:alpha val="1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5375" y="681037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181225" y="6810375"/>
            <a:ext cx="518590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가이드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42922" y="6848475"/>
            <a:ext cx="17058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도구별 사용법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14400" y="7315200"/>
            <a:ext cx="80391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0000">
                <a:alpha val="1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5375" y="7458075"/>
            <a:ext cx="933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181225" y="7458075"/>
            <a:ext cx="559320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마무리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623347" y="7496175"/>
            <a:ext cx="122537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다음 단계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334500" y="2628900"/>
            <a:ext cx="82802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색상 코딩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334500" y="3009900"/>
            <a:ext cx="1881187" cy="2514600"/>
          </a:xfrm>
          <a:prstGeom prst="roundRect">
            <a:avLst>
              <a:gd name="adj" fmla="val 4051"/>
            </a:avLst>
          </a:prstGeom>
          <a:solidFill>
            <a:srgbClr val="EDF7ED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82150" y="3319463"/>
            <a:ext cx="152400" cy="1524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5" name="Text 33"/>
          <p:cNvSpPr/>
          <p:nvPr/>
        </p:nvSpPr>
        <p:spPr>
          <a:xfrm>
            <a:off x="9829800" y="3238500"/>
            <a:ext cx="79399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MVP1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9334499" y="3667125"/>
            <a:ext cx="1881187" cy="151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시연 단계 — 결제 제외, 워터마크 자동 적용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582150" y="4724400"/>
            <a:ext cx="146208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00000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#EDF7ED #2E7D32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1387138" y="3009900"/>
            <a:ext cx="1881187" cy="2514600"/>
          </a:xfrm>
          <a:prstGeom prst="roundRect">
            <a:avLst>
              <a:gd name="adj" fmla="val 4051"/>
            </a:avLst>
          </a:prstGeom>
          <a:solidFill>
            <a:srgbClr val="FFF4E5"/>
          </a:solidFill>
          <a:ln w="19050">
            <a:solidFill>
              <a:srgbClr val="ED6C0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634788" y="3319463"/>
            <a:ext cx="152400" cy="152400"/>
          </a:xfrm>
          <a:prstGeom prst="ellipse">
            <a:avLst/>
          </a:prstGeom>
          <a:solidFill>
            <a:srgbClr val="ED6C02"/>
          </a:solidFill>
          <a:ln/>
        </p:spPr>
      </p:sp>
      <p:sp>
        <p:nvSpPr>
          <p:cNvPr id="40" name="Text 38"/>
          <p:cNvSpPr/>
          <p:nvPr/>
        </p:nvSpPr>
        <p:spPr>
          <a:xfrm>
            <a:off x="11882438" y="3238500"/>
            <a:ext cx="95669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D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정식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1387137" y="3667125"/>
            <a:ext cx="1881187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결제 시스템(토스페이먼츠 위탁)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634788" y="4724400"/>
            <a:ext cx="146208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00000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#FFF4E5 #ED6C02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3439775" y="3009900"/>
            <a:ext cx="1881187" cy="2514600"/>
          </a:xfrm>
          <a:prstGeom prst="roundRect">
            <a:avLst>
              <a:gd name="adj" fmla="val 4051"/>
            </a:avLst>
          </a:prstGeom>
          <a:solidFill>
            <a:srgbClr val="F5EDFF"/>
          </a:solidFill>
          <a:ln w="19050">
            <a:solidFill>
              <a:srgbClr val="9747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687425" y="3319463"/>
            <a:ext cx="152400" cy="152400"/>
          </a:xfrm>
          <a:prstGeom prst="ellipse">
            <a:avLst/>
          </a:prstGeom>
          <a:solidFill>
            <a:srgbClr val="9747FF"/>
          </a:solidFill>
          <a:ln/>
        </p:spPr>
      </p:sp>
      <p:sp>
        <p:nvSpPr>
          <p:cNvPr id="45" name="Text 43"/>
          <p:cNvSpPr/>
          <p:nvPr/>
        </p:nvSpPr>
        <p:spPr>
          <a:xfrm>
            <a:off x="13935075" y="3238500"/>
            <a:ext cx="38515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7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13439774" y="3667125"/>
            <a:ext cx="1881187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얼굴 자연 합성 · 모바일 · 문서 · 라이브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3687425" y="4724400"/>
            <a:ext cx="146208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00000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#F5EDFF #9747FF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15492412" y="3009900"/>
            <a:ext cx="1881187" cy="2514600"/>
          </a:xfrm>
          <a:prstGeom prst="roundRect">
            <a:avLst>
              <a:gd name="adj" fmla="val 4051"/>
            </a:avLst>
          </a:prstGeom>
          <a:solidFill>
            <a:srgbClr val="F5F5F5"/>
          </a:solidFill>
          <a:ln w="19050">
            <a:solidFill>
              <a:srgbClr val="9E9E9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5740063" y="3319463"/>
            <a:ext cx="152400" cy="152400"/>
          </a:xfrm>
          <a:prstGeom prst="ellipse">
            <a:avLst/>
          </a:prstGeom>
          <a:solidFill>
            <a:srgbClr val="9E9E9E"/>
          </a:solidFill>
          <a:ln/>
        </p:spPr>
      </p:sp>
      <p:sp>
        <p:nvSpPr>
          <p:cNvPr id="50" name="Text 48"/>
          <p:cNvSpPr/>
          <p:nvPr/>
        </p:nvSpPr>
        <p:spPr>
          <a:xfrm>
            <a:off x="15987713" y="3238500"/>
            <a:ext cx="53759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15492412" y="3667125"/>
            <a:ext cx="1881187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· Kakao · LLM · PG · 이메일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5740063" y="4724400"/>
            <a:ext cx="146208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00000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#F5F5F5 #9E9E9E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9334500" y="5791200"/>
            <a:ext cx="8039100" cy="1619250"/>
          </a:xfrm>
          <a:prstGeom prst="roundRect">
            <a:avLst>
              <a:gd name="adj" fmla="val 4706"/>
            </a:avLst>
          </a:prstGeom>
          <a:solidFill>
            <a:srgbClr val="FAFAFA"/>
          </a:solidFill>
          <a:ln w="9525">
            <a:solidFill>
              <a:srgbClr val="E0E0E0"/>
            </a:solidFill>
            <a:prstDash val="solid"/>
          </a:ln>
          <a:effectLst>
            <a:outerShdw blurRad="9525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9629775" y="6096000"/>
            <a:ext cx="41418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10063014" y="6067425"/>
            <a:ext cx="98122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읽는 법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9629775" y="6448425"/>
            <a:ext cx="767200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다이어그램 안의 </a:t>
            </a:r>
            <a:r>
              <a:rPr lang="en-US" sz="18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</a:t>
            </a: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 옅은 배경, </a:t>
            </a:r>
            <a:r>
              <a:rPr lang="en-US" sz="18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 </a:t>
            </a: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는 외곽선·라벨 강조에 사용됩니다. 점선 외곽(외부 서비스) = Garim 외부 시스템.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00125"/>
            <a:ext cx="164592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676275"/>
            <a:ext cx="76200" cy="762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4" name="Text 2"/>
          <p:cNvSpPr/>
          <p:nvPr/>
        </p:nvSpPr>
        <p:spPr>
          <a:xfrm>
            <a:off x="1123949" y="581025"/>
            <a:ext cx="32227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다이어그램 1 · 시스템 아키텍처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384339" y="533400"/>
            <a:ext cx="10654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200150"/>
            <a:ext cx="16952976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b="1" kern="0" spc="-7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7계층 컨테이너 구조와 단계별 분포</a:t>
            </a:r>
            <a:endParaRPr lang="en-US" sz="3750" dirty="0"/>
          </a:p>
        </p:txBody>
      </p:sp>
      <p:sp>
        <p:nvSpPr>
          <p:cNvPr id="7" name="Shape 5"/>
          <p:cNvSpPr/>
          <p:nvPr/>
        </p:nvSpPr>
        <p:spPr>
          <a:xfrm>
            <a:off x="914400" y="1838325"/>
            <a:ext cx="1454348" cy="438150"/>
          </a:xfrm>
          <a:prstGeom prst="roundRect">
            <a:avLst>
              <a:gd name="adj" fmla="val 50000"/>
            </a:avLst>
          </a:prstGeom>
          <a:solidFill>
            <a:srgbClr val="1976D2">
              <a:alpha val="8000"/>
            </a:srgbClr>
          </a:solidFill>
          <a:ln w="9525">
            <a:solidFill>
              <a:srgbClr val="1976D2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6325" y="1924050"/>
            <a:ext cx="12066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TD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63998" y="1838325"/>
            <a:ext cx="2302222" cy="4381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5923" y="1924050"/>
            <a:ext cx="20545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View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861471" y="1838325"/>
            <a:ext cx="889099" cy="438150"/>
          </a:xfrm>
          <a:prstGeom prst="roundRect">
            <a:avLst>
              <a:gd name="adj" fmla="val 50000"/>
            </a:avLst>
          </a:prstGeom>
          <a:solidFill>
            <a:srgbClr val="EDF7ED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3396" y="1924050"/>
            <a:ext cx="6414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MVP1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845820" y="1838325"/>
            <a:ext cx="606475" cy="438150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 w="9525">
            <a:solidFill>
              <a:srgbClr val="ED6C0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07745" y="1924050"/>
            <a:ext cx="3588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47545" y="1838325"/>
            <a:ext cx="606475" cy="438150"/>
          </a:xfrm>
          <a:prstGeom prst="roundRect">
            <a:avLst>
              <a:gd name="adj" fmla="val 50000"/>
            </a:avLst>
          </a:prstGeom>
          <a:solidFill>
            <a:srgbClr val="F5EDFF"/>
          </a:solidFill>
          <a:ln w="9525">
            <a:solidFill>
              <a:srgbClr val="974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09470" y="1924050"/>
            <a:ext cx="3588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3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249269" y="1838325"/>
            <a:ext cx="719435" cy="4381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9525">
            <a:solidFill>
              <a:srgbClr val="9E9E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11194" y="1924050"/>
            <a:ext cx="7194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24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외부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2581275"/>
            <a:ext cx="147161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7계층 컨테이너 구조. 단계별 색상 코딩으로 </a:t>
            </a:r>
            <a:r>
              <a:rPr lang="en-US" sz="1725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MVP1 · v1 정식 · v2 </a:t>
            </a:r>
            <a:r>
              <a:rPr lang="en-US" sz="172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범위가 한눈에 구분됨.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914400" y="3181350"/>
            <a:ext cx="82802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계층별 컴포넌트 분포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3562350"/>
            <a:ext cx="8039100" cy="5895975"/>
          </a:xfrm>
          <a:prstGeom prst="roundRect">
            <a:avLst>
              <a:gd name="adj" fmla="val 1292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3925" y="3571875"/>
            <a:ext cx="1273671" cy="43815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Shape 21"/>
          <p:cNvSpPr/>
          <p:nvPr/>
        </p:nvSpPr>
        <p:spPr>
          <a:xfrm>
            <a:off x="923925" y="4000500"/>
            <a:ext cx="1273671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57275" y="3657600"/>
            <a:ext cx="10831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kern="0" spc="3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197596" y="3571875"/>
            <a:ext cx="4332684" cy="43815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7596" y="4000500"/>
            <a:ext cx="4332684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265956" y="3657600"/>
            <a:ext cx="41959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00" b="1" kern="0" spc="3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MVP1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30280" y="3571875"/>
            <a:ext cx="1155502" cy="43815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Shape 27"/>
          <p:cNvSpPr/>
          <p:nvPr/>
        </p:nvSpPr>
        <p:spPr>
          <a:xfrm>
            <a:off x="6530280" y="4000500"/>
            <a:ext cx="1155502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625530" y="3657600"/>
            <a:ext cx="96500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00" b="1" kern="0" spc="3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정식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685782" y="3571875"/>
            <a:ext cx="1258491" cy="43815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Shape 30"/>
          <p:cNvSpPr/>
          <p:nvPr/>
        </p:nvSpPr>
        <p:spPr>
          <a:xfrm>
            <a:off x="7685782" y="4000500"/>
            <a:ext cx="1258491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781032" y="3657600"/>
            <a:ext cx="106799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00" b="1" kern="0" spc="3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23925" y="4448175"/>
            <a:ext cx="1273671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57275" y="4095750"/>
            <a:ext cx="10831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575" dirty="0"/>
          </a:p>
        </p:txBody>
      </p:sp>
      <p:sp>
        <p:nvSpPr>
          <p:cNvPr id="36" name="Shape 34"/>
          <p:cNvSpPr/>
          <p:nvPr/>
        </p:nvSpPr>
        <p:spPr>
          <a:xfrm>
            <a:off x="2197596" y="4448175"/>
            <a:ext cx="4332684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330946" y="4095750"/>
            <a:ext cx="41959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사용자·관리자 웹앱</a:t>
            </a:r>
            <a:endParaRPr lang="en-US" sz="1575" dirty="0"/>
          </a:p>
        </p:txBody>
      </p:sp>
      <p:sp>
        <p:nvSpPr>
          <p:cNvPr id="38" name="Shape 36"/>
          <p:cNvSpPr/>
          <p:nvPr/>
        </p:nvSpPr>
        <p:spPr>
          <a:xfrm>
            <a:off x="6530280" y="4448175"/>
            <a:ext cx="1155502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625530" y="4095750"/>
            <a:ext cx="9650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75" dirty="0"/>
          </a:p>
        </p:txBody>
      </p:sp>
      <p:sp>
        <p:nvSpPr>
          <p:cNvPr id="40" name="Shape 38"/>
          <p:cNvSpPr/>
          <p:nvPr/>
        </p:nvSpPr>
        <p:spPr>
          <a:xfrm>
            <a:off x="7685782" y="4448175"/>
            <a:ext cx="1258491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819132" y="4095750"/>
            <a:ext cx="12329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모바일 앱</a:t>
            </a:r>
            <a:endParaRPr lang="en-US" sz="1575" dirty="0"/>
          </a:p>
        </p:txBody>
      </p:sp>
      <p:sp>
        <p:nvSpPr>
          <p:cNvPr id="42" name="Shape 40"/>
          <p:cNvSpPr/>
          <p:nvPr/>
        </p:nvSpPr>
        <p:spPr>
          <a:xfrm>
            <a:off x="923925" y="5162550"/>
            <a:ext cx="1273671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057275" y="4543425"/>
            <a:ext cx="108317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575" dirty="0"/>
          </a:p>
        </p:txBody>
      </p:sp>
      <p:sp>
        <p:nvSpPr>
          <p:cNvPr id="44" name="Shape 42"/>
          <p:cNvSpPr/>
          <p:nvPr/>
        </p:nvSpPr>
        <p:spPr>
          <a:xfrm>
            <a:off x="2197596" y="5162550"/>
            <a:ext cx="4332684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2330946" y="4543425"/>
            <a:ext cx="41959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인증·라우팅·Rate Limit</a:t>
            </a:r>
            <a:endParaRPr lang="en-US" sz="1575" dirty="0"/>
          </a:p>
        </p:txBody>
      </p:sp>
      <p:sp>
        <p:nvSpPr>
          <p:cNvPr id="46" name="Shape 44"/>
          <p:cNvSpPr/>
          <p:nvPr/>
        </p:nvSpPr>
        <p:spPr>
          <a:xfrm>
            <a:off x="6530280" y="5162550"/>
            <a:ext cx="1155502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625530" y="4543425"/>
            <a:ext cx="96500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75" dirty="0"/>
          </a:p>
        </p:txBody>
      </p:sp>
      <p:sp>
        <p:nvSpPr>
          <p:cNvPr id="48" name="Shape 46"/>
          <p:cNvSpPr/>
          <p:nvPr/>
        </p:nvSpPr>
        <p:spPr>
          <a:xfrm>
            <a:off x="7685782" y="5162550"/>
            <a:ext cx="1258491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781032" y="4543425"/>
            <a:ext cx="106799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75" dirty="0"/>
          </a:p>
        </p:txBody>
      </p:sp>
      <p:sp>
        <p:nvSpPr>
          <p:cNvPr id="50" name="Shape 48"/>
          <p:cNvSpPr/>
          <p:nvPr/>
        </p:nvSpPr>
        <p:spPr>
          <a:xfrm>
            <a:off x="923925" y="5876925"/>
            <a:ext cx="1273671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057275" y="5257800"/>
            <a:ext cx="108317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75" dirty="0"/>
          </a:p>
        </p:txBody>
      </p:sp>
      <p:sp>
        <p:nvSpPr>
          <p:cNvPr id="52" name="Shape 50"/>
          <p:cNvSpPr/>
          <p:nvPr/>
        </p:nvSpPr>
        <p:spPr>
          <a:xfrm>
            <a:off x="2197596" y="5876925"/>
            <a:ext cx="4332684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2330946" y="5257800"/>
            <a:ext cx="41959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· Upload · Detection · Substitution · SNS · Notify · Admin</a:t>
            </a:r>
            <a:endParaRPr lang="en-US" sz="1575" dirty="0"/>
          </a:p>
        </p:txBody>
      </p:sp>
      <p:sp>
        <p:nvSpPr>
          <p:cNvPr id="54" name="Shape 52"/>
          <p:cNvSpPr/>
          <p:nvPr/>
        </p:nvSpPr>
        <p:spPr>
          <a:xfrm>
            <a:off x="6530280" y="5876925"/>
            <a:ext cx="1155502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663630" y="5257800"/>
            <a:ext cx="111740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Payment</a:t>
            </a:r>
            <a:endParaRPr lang="en-US" sz="1575" dirty="0"/>
          </a:p>
        </p:txBody>
      </p:sp>
      <p:sp>
        <p:nvSpPr>
          <p:cNvPr id="56" name="Shape 54"/>
          <p:cNvSpPr/>
          <p:nvPr/>
        </p:nvSpPr>
        <p:spPr>
          <a:xfrm>
            <a:off x="7685782" y="5876925"/>
            <a:ext cx="1258491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7781032" y="5257800"/>
            <a:ext cx="106799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75" dirty="0"/>
          </a:p>
        </p:txBody>
      </p:sp>
      <p:sp>
        <p:nvSpPr>
          <p:cNvPr id="58" name="Shape 56"/>
          <p:cNvSpPr/>
          <p:nvPr/>
        </p:nvSpPr>
        <p:spPr>
          <a:xfrm>
            <a:off x="923925" y="6591300"/>
            <a:ext cx="1273671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057275" y="5972175"/>
            <a:ext cx="108317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Workers</a:t>
            </a:r>
            <a:endParaRPr lang="en-US" sz="1575" dirty="0"/>
          </a:p>
        </p:txBody>
      </p:sp>
      <p:sp>
        <p:nvSpPr>
          <p:cNvPr id="60" name="Shape 58"/>
          <p:cNvSpPr/>
          <p:nvPr/>
        </p:nvSpPr>
        <p:spPr>
          <a:xfrm>
            <a:off x="2197596" y="6591300"/>
            <a:ext cx="4332684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2330946" y="5972175"/>
            <a:ext cx="41959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시각·음성·메타 · STE · 마스킹</a:t>
            </a:r>
            <a:endParaRPr lang="en-US" sz="1575" dirty="0"/>
          </a:p>
        </p:txBody>
      </p:sp>
      <p:sp>
        <p:nvSpPr>
          <p:cNvPr id="62" name="Shape 60"/>
          <p:cNvSpPr/>
          <p:nvPr/>
        </p:nvSpPr>
        <p:spPr>
          <a:xfrm>
            <a:off x="6530280" y="6591300"/>
            <a:ext cx="1155502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6625530" y="5972175"/>
            <a:ext cx="96500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75" dirty="0"/>
          </a:p>
        </p:txBody>
      </p:sp>
      <p:sp>
        <p:nvSpPr>
          <p:cNvPr id="64" name="Shape 62"/>
          <p:cNvSpPr/>
          <p:nvPr/>
        </p:nvSpPr>
        <p:spPr>
          <a:xfrm>
            <a:off x="7685782" y="6591300"/>
            <a:ext cx="1258491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7819132" y="5972175"/>
            <a:ext cx="113436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얼굴 자연 합성</a:t>
            </a:r>
            <a:endParaRPr lang="en-US" sz="1575" dirty="0"/>
          </a:p>
        </p:txBody>
      </p:sp>
      <p:sp>
        <p:nvSpPr>
          <p:cNvPr id="66" name="Shape 64"/>
          <p:cNvSpPr/>
          <p:nvPr/>
        </p:nvSpPr>
        <p:spPr>
          <a:xfrm>
            <a:off x="923925" y="7305675"/>
            <a:ext cx="1273671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57275" y="6686550"/>
            <a:ext cx="108317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· Cache</a:t>
            </a:r>
            <a:endParaRPr lang="en-US" sz="1575" dirty="0"/>
          </a:p>
        </p:txBody>
      </p:sp>
      <p:sp>
        <p:nvSpPr>
          <p:cNvPr id="68" name="Shape 66"/>
          <p:cNvSpPr/>
          <p:nvPr/>
        </p:nvSpPr>
        <p:spPr>
          <a:xfrm>
            <a:off x="2197596" y="7305675"/>
            <a:ext cx="4332684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2330946" y="6686550"/>
            <a:ext cx="41959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우선순위 큐</a:t>
            </a:r>
            <a:endParaRPr lang="en-US" sz="1575" dirty="0"/>
          </a:p>
        </p:txBody>
      </p:sp>
      <p:sp>
        <p:nvSpPr>
          <p:cNvPr id="70" name="Shape 68"/>
          <p:cNvSpPr/>
          <p:nvPr/>
        </p:nvSpPr>
        <p:spPr>
          <a:xfrm>
            <a:off x="6530280" y="7305675"/>
            <a:ext cx="1155502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6625530" y="6686550"/>
            <a:ext cx="96500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75" dirty="0"/>
          </a:p>
        </p:txBody>
      </p:sp>
      <p:sp>
        <p:nvSpPr>
          <p:cNvPr id="72" name="Shape 70"/>
          <p:cNvSpPr/>
          <p:nvPr/>
        </p:nvSpPr>
        <p:spPr>
          <a:xfrm>
            <a:off x="7685782" y="7305675"/>
            <a:ext cx="1258491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7781032" y="6686550"/>
            <a:ext cx="106799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75" dirty="0"/>
          </a:p>
        </p:txBody>
      </p:sp>
      <p:sp>
        <p:nvSpPr>
          <p:cNvPr id="74" name="Shape 72"/>
          <p:cNvSpPr/>
          <p:nvPr/>
        </p:nvSpPr>
        <p:spPr>
          <a:xfrm>
            <a:off x="923925" y="8020050"/>
            <a:ext cx="1273671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1057275" y="7400925"/>
            <a:ext cx="108317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575" dirty="0"/>
          </a:p>
        </p:txBody>
      </p:sp>
      <p:sp>
        <p:nvSpPr>
          <p:cNvPr id="76" name="Shape 74"/>
          <p:cNvSpPr/>
          <p:nvPr/>
        </p:nvSpPr>
        <p:spPr>
          <a:xfrm>
            <a:off x="2197596" y="8020050"/>
            <a:ext cx="4332684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2330946" y="7400925"/>
            <a:ext cx="41959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· Object Storage</a:t>
            </a:r>
            <a:endParaRPr lang="en-US" sz="1575" dirty="0"/>
          </a:p>
        </p:txBody>
      </p:sp>
      <p:sp>
        <p:nvSpPr>
          <p:cNvPr id="78" name="Shape 76"/>
          <p:cNvSpPr/>
          <p:nvPr/>
        </p:nvSpPr>
        <p:spPr>
          <a:xfrm>
            <a:off x="6530280" y="8020050"/>
            <a:ext cx="1155502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6625530" y="7400925"/>
            <a:ext cx="96500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75" dirty="0"/>
          </a:p>
        </p:txBody>
      </p:sp>
      <p:sp>
        <p:nvSpPr>
          <p:cNvPr id="80" name="Shape 78"/>
          <p:cNvSpPr/>
          <p:nvPr/>
        </p:nvSpPr>
        <p:spPr>
          <a:xfrm>
            <a:off x="7685782" y="8020050"/>
            <a:ext cx="1258491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7819132" y="7400925"/>
            <a:ext cx="113436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Vector DB</a:t>
            </a:r>
            <a:endParaRPr lang="en-US" sz="1575" dirty="0"/>
          </a:p>
        </p:txBody>
      </p:sp>
      <p:sp>
        <p:nvSpPr>
          <p:cNvPr id="82" name="Shape 80"/>
          <p:cNvSpPr/>
          <p:nvPr/>
        </p:nvSpPr>
        <p:spPr>
          <a:xfrm>
            <a:off x="923925" y="8734425"/>
            <a:ext cx="1273671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1057275" y="8115300"/>
            <a:ext cx="108317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1575" dirty="0"/>
          </a:p>
        </p:txBody>
      </p:sp>
      <p:sp>
        <p:nvSpPr>
          <p:cNvPr id="84" name="Shape 82"/>
          <p:cNvSpPr/>
          <p:nvPr/>
        </p:nvSpPr>
        <p:spPr>
          <a:xfrm>
            <a:off x="2197596" y="8734425"/>
            <a:ext cx="4332684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2330946" y="8115300"/>
            <a:ext cx="41959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· Kakao · LLM · 이메일</a:t>
            </a:r>
            <a:endParaRPr lang="en-US" sz="1575" dirty="0"/>
          </a:p>
        </p:txBody>
      </p:sp>
      <p:sp>
        <p:nvSpPr>
          <p:cNvPr id="86" name="Shape 84"/>
          <p:cNvSpPr/>
          <p:nvPr/>
        </p:nvSpPr>
        <p:spPr>
          <a:xfrm>
            <a:off x="6530280" y="8734425"/>
            <a:ext cx="1155502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6663630" y="8115300"/>
            <a:ext cx="111740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토스페이먼츠</a:t>
            </a:r>
            <a:endParaRPr lang="en-US" sz="1575" dirty="0"/>
          </a:p>
        </p:txBody>
      </p:sp>
      <p:sp>
        <p:nvSpPr>
          <p:cNvPr id="88" name="Shape 86"/>
          <p:cNvSpPr/>
          <p:nvPr/>
        </p:nvSpPr>
        <p:spPr>
          <a:xfrm>
            <a:off x="7685782" y="8734425"/>
            <a:ext cx="1258491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7781032" y="8115300"/>
            <a:ext cx="106799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75" dirty="0"/>
          </a:p>
        </p:txBody>
      </p:sp>
      <p:sp>
        <p:nvSpPr>
          <p:cNvPr id="90" name="Text 88"/>
          <p:cNvSpPr/>
          <p:nvPr/>
        </p:nvSpPr>
        <p:spPr>
          <a:xfrm>
            <a:off x="1057275" y="8829675"/>
            <a:ext cx="108317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1575" dirty="0"/>
          </a:p>
        </p:txBody>
      </p:sp>
      <p:sp>
        <p:nvSpPr>
          <p:cNvPr id="91" name="Text 89"/>
          <p:cNvSpPr/>
          <p:nvPr/>
        </p:nvSpPr>
        <p:spPr>
          <a:xfrm>
            <a:off x="2330946" y="8829675"/>
            <a:ext cx="41959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삭제 · 어뷰징 탐지</a:t>
            </a:r>
            <a:endParaRPr lang="en-US" sz="1575" dirty="0"/>
          </a:p>
        </p:txBody>
      </p:sp>
      <p:sp>
        <p:nvSpPr>
          <p:cNvPr id="92" name="Text 90"/>
          <p:cNvSpPr/>
          <p:nvPr/>
        </p:nvSpPr>
        <p:spPr>
          <a:xfrm>
            <a:off x="6625530" y="8829675"/>
            <a:ext cx="96500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75" dirty="0"/>
          </a:p>
        </p:txBody>
      </p:sp>
      <p:sp>
        <p:nvSpPr>
          <p:cNvPr id="93" name="Text 91"/>
          <p:cNvSpPr/>
          <p:nvPr/>
        </p:nvSpPr>
        <p:spPr>
          <a:xfrm>
            <a:off x="7819132" y="8829675"/>
            <a:ext cx="113436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정기 SNS 스캔</a:t>
            </a:r>
            <a:endParaRPr lang="en-US" sz="1575" dirty="0"/>
          </a:p>
        </p:txBody>
      </p:sp>
      <p:sp>
        <p:nvSpPr>
          <p:cNvPr id="94" name="Text 92"/>
          <p:cNvSpPr/>
          <p:nvPr/>
        </p:nvSpPr>
        <p:spPr>
          <a:xfrm>
            <a:off x="9334500" y="3181350"/>
            <a:ext cx="82802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 매핑</a:t>
            </a:r>
            <a:endParaRPr lang="en-US" sz="1800" dirty="0"/>
          </a:p>
        </p:txBody>
      </p:sp>
      <p:sp>
        <p:nvSpPr>
          <p:cNvPr id="95" name="Shape 93"/>
          <p:cNvSpPr/>
          <p:nvPr/>
        </p:nvSpPr>
        <p:spPr>
          <a:xfrm>
            <a:off x="9334500" y="3581400"/>
            <a:ext cx="489496" cy="257175"/>
          </a:xfrm>
          <a:prstGeom prst="roundRect">
            <a:avLst>
              <a:gd name="adj" fmla="val 14815"/>
            </a:avLst>
          </a:prstGeom>
          <a:solidFill>
            <a:srgbClr val="2E7D32"/>
          </a:solidFill>
          <a:ln/>
        </p:spPr>
      </p:sp>
      <p:sp>
        <p:nvSpPr>
          <p:cNvPr id="96" name="Text 94"/>
          <p:cNvSpPr/>
          <p:nvPr/>
        </p:nvSpPr>
        <p:spPr>
          <a:xfrm>
            <a:off x="9420225" y="3609975"/>
            <a:ext cx="39424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B-1</a:t>
            </a:r>
            <a:endParaRPr lang="en-US" sz="1350" dirty="0"/>
          </a:p>
        </p:txBody>
      </p:sp>
      <p:sp>
        <p:nvSpPr>
          <p:cNvPr id="97" name="Text 95"/>
          <p:cNvSpPr/>
          <p:nvPr/>
        </p:nvSpPr>
        <p:spPr>
          <a:xfrm>
            <a:off x="9957346" y="3562350"/>
            <a:ext cx="499662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수집 </a:t>
            </a: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실명·전화·주소 미수집 → Auth Service</a:t>
            </a:r>
            <a:endParaRPr lang="en-US" sz="1575" dirty="0"/>
          </a:p>
        </p:txBody>
      </p:sp>
      <p:sp>
        <p:nvSpPr>
          <p:cNvPr id="98" name="Shape 96"/>
          <p:cNvSpPr/>
          <p:nvPr/>
        </p:nvSpPr>
        <p:spPr>
          <a:xfrm>
            <a:off x="9334500" y="3962400"/>
            <a:ext cx="489496" cy="257175"/>
          </a:xfrm>
          <a:prstGeom prst="roundRect">
            <a:avLst>
              <a:gd name="adj" fmla="val 14815"/>
            </a:avLst>
          </a:prstGeom>
          <a:solidFill>
            <a:srgbClr val="2E7D32"/>
          </a:solidFill>
          <a:ln/>
        </p:spPr>
      </p:sp>
      <p:sp>
        <p:nvSpPr>
          <p:cNvPr id="99" name="Text 97"/>
          <p:cNvSpPr/>
          <p:nvPr/>
        </p:nvSpPr>
        <p:spPr>
          <a:xfrm>
            <a:off x="9420225" y="3990975"/>
            <a:ext cx="39424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B-1</a:t>
            </a:r>
            <a:endParaRPr lang="en-US" sz="1350" dirty="0"/>
          </a:p>
        </p:txBody>
      </p:sp>
      <p:sp>
        <p:nvSpPr>
          <p:cNvPr id="100" name="Text 98"/>
          <p:cNvSpPr/>
          <p:nvPr/>
        </p:nvSpPr>
        <p:spPr>
          <a:xfrm>
            <a:off x="9957346" y="3943350"/>
            <a:ext cx="79100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삭제 </a:t>
            </a: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원본 12h · 결과 24h · 메타 30d · 로그 90d → Scheduler + S3 + PG</a:t>
            </a:r>
            <a:endParaRPr lang="en-US" sz="1575" dirty="0"/>
          </a:p>
        </p:txBody>
      </p:sp>
      <p:sp>
        <p:nvSpPr>
          <p:cNvPr id="101" name="Shape 99"/>
          <p:cNvSpPr/>
          <p:nvPr/>
        </p:nvSpPr>
        <p:spPr>
          <a:xfrm>
            <a:off x="9334500" y="4343400"/>
            <a:ext cx="489496" cy="257175"/>
          </a:xfrm>
          <a:prstGeom prst="roundRect">
            <a:avLst>
              <a:gd name="adj" fmla="val 14815"/>
            </a:avLst>
          </a:prstGeom>
          <a:solidFill>
            <a:srgbClr val="2E7D32"/>
          </a:solidFill>
          <a:ln/>
        </p:spPr>
      </p:sp>
      <p:sp>
        <p:nvSpPr>
          <p:cNvPr id="102" name="Text 100"/>
          <p:cNvSpPr/>
          <p:nvPr/>
        </p:nvSpPr>
        <p:spPr>
          <a:xfrm>
            <a:off x="9420225" y="4371975"/>
            <a:ext cx="39424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B-1</a:t>
            </a:r>
            <a:endParaRPr lang="en-US" sz="1350" dirty="0"/>
          </a:p>
        </p:txBody>
      </p:sp>
      <p:sp>
        <p:nvSpPr>
          <p:cNvPr id="103" name="Text 101"/>
          <p:cNvSpPr/>
          <p:nvPr/>
        </p:nvSpPr>
        <p:spPr>
          <a:xfrm>
            <a:off x="9957346" y="4324350"/>
            <a:ext cx="60483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익명 요청 </a:t>
            </a: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원본 미전송, 형식만 → Substitution → LLM</a:t>
            </a:r>
            <a:endParaRPr lang="en-US" sz="1575" dirty="0"/>
          </a:p>
        </p:txBody>
      </p:sp>
      <p:sp>
        <p:nvSpPr>
          <p:cNvPr id="104" name="Shape 102"/>
          <p:cNvSpPr/>
          <p:nvPr/>
        </p:nvSpPr>
        <p:spPr>
          <a:xfrm>
            <a:off x="9334500" y="4724400"/>
            <a:ext cx="489496" cy="257175"/>
          </a:xfrm>
          <a:prstGeom prst="roundRect">
            <a:avLst>
              <a:gd name="adj" fmla="val 14815"/>
            </a:avLst>
          </a:prstGeom>
          <a:solidFill>
            <a:srgbClr val="2E7D32"/>
          </a:solidFill>
          <a:ln/>
        </p:spPr>
      </p:sp>
      <p:sp>
        <p:nvSpPr>
          <p:cNvPr id="105" name="Text 103"/>
          <p:cNvSpPr/>
          <p:nvPr/>
        </p:nvSpPr>
        <p:spPr>
          <a:xfrm>
            <a:off x="9420225" y="4752975"/>
            <a:ext cx="39424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B-1</a:t>
            </a:r>
            <a:endParaRPr lang="en-US" sz="1350" dirty="0"/>
          </a:p>
        </p:txBody>
      </p:sp>
      <p:sp>
        <p:nvSpPr>
          <p:cNvPr id="106" name="Text 104"/>
          <p:cNvSpPr/>
          <p:nvPr/>
        </p:nvSpPr>
        <p:spPr>
          <a:xfrm>
            <a:off x="9957346" y="4705350"/>
            <a:ext cx="71759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정보 PG 위탁 </a:t>
            </a: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카드번호 Garim 미보관 → Payment ↔ PG External</a:t>
            </a:r>
            <a:endParaRPr lang="en-US" sz="1575" dirty="0"/>
          </a:p>
        </p:txBody>
      </p:sp>
      <p:sp>
        <p:nvSpPr>
          <p:cNvPr id="107" name="Shape 105"/>
          <p:cNvSpPr/>
          <p:nvPr/>
        </p:nvSpPr>
        <p:spPr>
          <a:xfrm>
            <a:off x="9334500" y="5105400"/>
            <a:ext cx="489496" cy="257175"/>
          </a:xfrm>
          <a:prstGeom prst="roundRect">
            <a:avLst>
              <a:gd name="adj" fmla="val 14815"/>
            </a:avLst>
          </a:prstGeom>
          <a:solidFill>
            <a:srgbClr val="D32F2F"/>
          </a:solidFill>
          <a:ln/>
        </p:spPr>
      </p:sp>
      <p:sp>
        <p:nvSpPr>
          <p:cNvPr id="108" name="Text 106"/>
          <p:cNvSpPr/>
          <p:nvPr/>
        </p:nvSpPr>
        <p:spPr>
          <a:xfrm>
            <a:off x="9420225" y="5133975"/>
            <a:ext cx="39424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B-3</a:t>
            </a:r>
            <a:endParaRPr lang="en-US" sz="1350" dirty="0"/>
          </a:p>
        </p:txBody>
      </p:sp>
      <p:sp>
        <p:nvSpPr>
          <p:cNvPr id="109" name="Text 107"/>
          <p:cNvSpPr/>
          <p:nvPr/>
        </p:nvSpPr>
        <p:spPr>
          <a:xfrm>
            <a:off x="9957346" y="5086350"/>
            <a:ext cx="604452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워터마크 자동 삽입 </a:t>
            </a: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사용자 선택 불가 → Watermark Worker</a:t>
            </a:r>
            <a:endParaRPr lang="en-US" sz="1575" dirty="0"/>
          </a:p>
        </p:txBody>
      </p:sp>
      <p:sp>
        <p:nvSpPr>
          <p:cNvPr id="110" name="Shape 108"/>
          <p:cNvSpPr/>
          <p:nvPr/>
        </p:nvSpPr>
        <p:spPr>
          <a:xfrm>
            <a:off x="9334500" y="5486400"/>
            <a:ext cx="489496" cy="257175"/>
          </a:xfrm>
          <a:prstGeom prst="roundRect">
            <a:avLst>
              <a:gd name="adj" fmla="val 14815"/>
            </a:avLst>
          </a:prstGeom>
          <a:solidFill>
            <a:srgbClr val="D32F2F"/>
          </a:solidFill>
          <a:ln/>
        </p:spPr>
      </p:sp>
      <p:sp>
        <p:nvSpPr>
          <p:cNvPr id="111" name="Text 109"/>
          <p:cNvSpPr/>
          <p:nvPr/>
        </p:nvSpPr>
        <p:spPr>
          <a:xfrm>
            <a:off x="9420225" y="5514975"/>
            <a:ext cx="39424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B-3</a:t>
            </a:r>
            <a:endParaRPr lang="en-US" sz="1350" dirty="0"/>
          </a:p>
        </p:txBody>
      </p:sp>
      <p:sp>
        <p:nvSpPr>
          <p:cNvPr id="112" name="Text 110"/>
          <p:cNvSpPr/>
          <p:nvPr/>
        </p:nvSpPr>
        <p:spPr>
          <a:xfrm>
            <a:off x="9957346" y="5467350"/>
            <a:ext cx="426398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어뷰징 자동 탐지 </a:t>
            </a: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Gateway → AdminSvc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019175"/>
            <a:ext cx="170688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676275"/>
            <a:ext cx="76200" cy="762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4" name="Text 2"/>
          <p:cNvSpPr/>
          <p:nvPr/>
        </p:nvSpPr>
        <p:spPr>
          <a:xfrm>
            <a:off x="819150" y="581025"/>
            <a:ext cx="57539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kern="0" spc="3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다이어그램 1 · 시스템 아키텍처 — 7계층 컨테이너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689139" y="533400"/>
            <a:ext cx="10654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600" y="1181100"/>
            <a:ext cx="17068800" cy="8572500"/>
          </a:xfrm>
          <a:prstGeom prst="roundRect">
            <a:avLst>
              <a:gd name="adj" fmla="val 889"/>
            </a:avLst>
          </a:prstGeom>
          <a:solidFill>
            <a:srgbClr val="FAFAFA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231" y="1295400"/>
            <a:ext cx="13599459" cy="8458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304925"/>
            <a:ext cx="164592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904875"/>
            <a:ext cx="76200" cy="762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4" name="Text 2"/>
          <p:cNvSpPr/>
          <p:nvPr/>
        </p:nvSpPr>
        <p:spPr>
          <a:xfrm>
            <a:off x="1123950" y="809625"/>
            <a:ext cx="273243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kern="0" spc="3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다이어그램 2 · 검출 시퀀스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384339" y="762000"/>
            <a:ext cx="10654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57350"/>
            <a:ext cx="1695297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7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업로드부터 분석 리포트까지 — 21단계 병렬 처리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914400" y="2457450"/>
            <a:ext cx="2443609" cy="438150"/>
          </a:xfrm>
          <a:prstGeom prst="roundRect">
            <a:avLst>
              <a:gd name="adj" fmla="val 50000"/>
            </a:avLst>
          </a:prstGeom>
          <a:solidFill>
            <a:srgbClr val="1976D2">
              <a:alpha val="8000"/>
            </a:srgbClr>
          </a:solidFill>
          <a:ln w="9525">
            <a:solidFill>
              <a:srgbClr val="1976D2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6325" y="2543175"/>
            <a:ext cx="21959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sequenceDiagram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53259" y="2457450"/>
            <a:ext cx="1792932" cy="4381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5183" y="2543175"/>
            <a:ext cx="1631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핵심 가치 화면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341441" y="2457450"/>
            <a:ext cx="1171724" cy="438150"/>
          </a:xfrm>
          <a:prstGeom prst="roundRect">
            <a:avLst>
              <a:gd name="adj" fmla="val 50000"/>
            </a:avLst>
          </a:prstGeom>
          <a:solidFill>
            <a:srgbClr val="EDF7ED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03366" y="2543175"/>
            <a:ext cx="9240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MVP1 ~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162300"/>
            <a:ext cx="147161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업로드부터 분석 리포트(페이지 10)까지. </a:t>
            </a:r>
            <a:r>
              <a:rPr lang="en-US" sz="19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 · OCR · 음성 · 메타데이터 병렬 처리</a:t>
            </a:r>
            <a:r>
              <a:rPr lang="en-US" sz="19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핵심.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14400" y="3771900"/>
            <a:ext cx="82802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시퀀스 요약 — 전체 21단계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4800600"/>
            <a:ext cx="80391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47750" y="4405313"/>
            <a:ext cx="838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①~②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943100" y="4405313"/>
            <a:ext cx="12421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0000">
                    <a:alpha val="8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→ FE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242370" y="4371975"/>
            <a:ext cx="574511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드래그 앤 드롭 + 클라이언트 사양 검증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5467350"/>
            <a:ext cx="80391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" y="5072063"/>
            <a:ext cx="838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③~⑥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943100" y="5072063"/>
            <a:ext cx="21487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0000">
                    <a:alpha val="8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 → GW → Upload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149030" y="5038725"/>
            <a:ext cx="481125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어뷰징 체크 + 서버 재검증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14400" y="6134100"/>
            <a:ext cx="80391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47750" y="5738813"/>
            <a:ext cx="838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⑦~⑨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943100" y="5738813"/>
            <a:ext cx="21487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0000">
                    <a:alpha val="8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 → S3·DB·Q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4149030" y="5705475"/>
            <a:ext cx="481125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 저장 + 작업 등록 + 큐 enqueue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14400" y="6800850"/>
            <a:ext cx="80391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047750" y="6405563"/>
            <a:ext cx="838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⑩~⑪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943100" y="6405563"/>
            <a:ext cx="12421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0000">
                    <a:alpha val="8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 → User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3242370" y="6372225"/>
            <a:ext cx="574511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 9 진행 화면 이동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14400" y="7467600"/>
            <a:ext cx="80391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47750" y="7072313"/>
            <a:ext cx="838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⑫~⑯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943100" y="7072313"/>
            <a:ext cx="150122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0000">
                    <a:alpha val="8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→ Workers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3501479" y="7038975"/>
            <a:ext cx="54782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</a:t>
            </a: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시각 · OCR · 음성 · 메타데이터 동시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14400" y="8134350"/>
            <a:ext cx="80391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047750" y="7739062"/>
            <a:ext cx="838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⑰~⑱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943100" y="7739062"/>
            <a:ext cx="2019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0000">
                    <a:alpha val="8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Workers → DB·S3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4019550" y="7705725"/>
            <a:ext cx="494461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일괄 저장 · 썸네일 생성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14400" y="8801100"/>
            <a:ext cx="80391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047750" y="8405813"/>
            <a:ext cx="838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⑲~⑳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943100" y="8405813"/>
            <a:ext cx="17601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0000">
                    <a:alpha val="8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Notify → User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3760440" y="8372475"/>
            <a:ext cx="52115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 + WebSocket 푸시 (2-track)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14400" y="9467850"/>
            <a:ext cx="80391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047750" y="9072563"/>
            <a:ext cx="838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㉑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943100" y="9072563"/>
            <a:ext cx="12421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0000">
                    <a:alpha val="8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→ FE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3242370" y="9039225"/>
            <a:ext cx="574511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 10 분석 리포트 조회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334500" y="3771900"/>
            <a:ext cx="82802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정책</a:t>
            </a:r>
            <a:endParaRPr lang="en-US" sz="2100" dirty="0"/>
          </a:p>
        </p:txBody>
      </p:sp>
      <p:sp>
        <p:nvSpPr>
          <p:cNvPr id="48" name="Shape 46"/>
          <p:cNvSpPr/>
          <p:nvPr/>
        </p:nvSpPr>
        <p:spPr>
          <a:xfrm>
            <a:off x="9334500" y="4276725"/>
            <a:ext cx="413498" cy="326570"/>
          </a:xfrm>
          <a:prstGeom prst="roundRect">
            <a:avLst>
              <a:gd name="adj" fmla="val 12500"/>
            </a:avLst>
          </a:prstGeom>
          <a:solidFill>
            <a:srgbClr val="1976D2"/>
          </a:solidFill>
          <a:ln/>
        </p:spPr>
      </p:sp>
      <p:sp>
        <p:nvSpPr>
          <p:cNvPr id="49" name="Text 47"/>
          <p:cNvSpPr/>
          <p:nvPr/>
        </p:nvSpPr>
        <p:spPr>
          <a:xfrm>
            <a:off x="9429749" y="4314824"/>
            <a:ext cx="337843" cy="285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776222" y="4257675"/>
            <a:ext cx="57434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클라이언트 검증 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빠른 피드백 + 서버 부하 감소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9334500" y="4752975"/>
            <a:ext cx="413498" cy="326570"/>
          </a:xfrm>
          <a:prstGeom prst="roundRect">
            <a:avLst>
              <a:gd name="adj" fmla="val 12500"/>
            </a:avLst>
          </a:prstGeom>
          <a:solidFill>
            <a:srgbClr val="D32F2F"/>
          </a:solidFill>
          <a:ln/>
        </p:spPr>
      </p:sp>
      <p:sp>
        <p:nvSpPr>
          <p:cNvPr id="52" name="Text 50"/>
          <p:cNvSpPr/>
          <p:nvPr/>
        </p:nvSpPr>
        <p:spPr>
          <a:xfrm>
            <a:off x="9429749" y="4791074"/>
            <a:ext cx="337843" cy="285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⑤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9776221" y="4733925"/>
            <a:ext cx="53997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어뷰징 체크 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rate limit 초과 시 60초 쿨다운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9334500" y="5229225"/>
            <a:ext cx="413498" cy="326570"/>
          </a:xfrm>
          <a:prstGeom prst="roundRect">
            <a:avLst>
              <a:gd name="adj" fmla="val 12500"/>
            </a:avLst>
          </a:prstGeom>
          <a:solidFill>
            <a:srgbClr val="D32F2F"/>
          </a:solidFill>
          <a:ln/>
        </p:spPr>
      </p:sp>
      <p:sp>
        <p:nvSpPr>
          <p:cNvPr id="55" name="Text 53"/>
          <p:cNvSpPr/>
          <p:nvPr/>
        </p:nvSpPr>
        <p:spPr>
          <a:xfrm>
            <a:off x="9429749" y="5267324"/>
            <a:ext cx="337843" cy="285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⑥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9776222" y="5210175"/>
            <a:ext cx="563438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거부 문서 타입 감지 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공문서·의료 → 처리 거부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9334500" y="5705475"/>
            <a:ext cx="413498" cy="326570"/>
          </a:xfrm>
          <a:prstGeom prst="roundRect">
            <a:avLst>
              <a:gd name="adj" fmla="val 12500"/>
            </a:avLst>
          </a:prstGeom>
          <a:solidFill>
            <a:srgbClr val="2E7D32"/>
          </a:solidFill>
          <a:ln/>
        </p:spPr>
      </p:sp>
      <p:sp>
        <p:nvSpPr>
          <p:cNvPr id="58" name="Text 56"/>
          <p:cNvSpPr/>
          <p:nvPr/>
        </p:nvSpPr>
        <p:spPr>
          <a:xfrm>
            <a:off x="9429749" y="5743574"/>
            <a:ext cx="337843" cy="285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⑦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9776222" y="5686425"/>
            <a:ext cx="50397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12시간 TTL 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원본 자동 삭제 (Free 기준)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9334500" y="6181725"/>
            <a:ext cx="413498" cy="326570"/>
          </a:xfrm>
          <a:prstGeom prst="roundRect">
            <a:avLst>
              <a:gd name="adj" fmla="val 12500"/>
            </a:avLst>
          </a:prstGeom>
          <a:solidFill>
            <a:srgbClr val="1976D2"/>
          </a:solidFill>
          <a:ln/>
        </p:spPr>
      </p:sp>
      <p:sp>
        <p:nvSpPr>
          <p:cNvPr id="61" name="Text 59"/>
          <p:cNvSpPr/>
          <p:nvPr/>
        </p:nvSpPr>
        <p:spPr>
          <a:xfrm>
            <a:off x="9429749" y="6219824"/>
            <a:ext cx="337843" cy="285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⑨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9776222" y="6162675"/>
            <a:ext cx="511855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 큐 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MVP1 단일 / v1 플랜별 차등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9334500" y="6657975"/>
            <a:ext cx="737243" cy="326570"/>
          </a:xfrm>
          <a:prstGeom prst="roundRect">
            <a:avLst>
              <a:gd name="adj" fmla="val 12500"/>
            </a:avLst>
          </a:prstGeom>
          <a:solidFill>
            <a:srgbClr val="1976D2"/>
          </a:solidFill>
          <a:ln/>
        </p:spPr>
      </p:sp>
      <p:sp>
        <p:nvSpPr>
          <p:cNvPr id="64" name="Text 62"/>
          <p:cNvSpPr/>
          <p:nvPr/>
        </p:nvSpPr>
        <p:spPr>
          <a:xfrm>
            <a:off x="9429750" y="6696074"/>
            <a:ext cx="911450" cy="285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⑫~⑮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10105727" y="6638925"/>
            <a:ext cx="51342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검출 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시각·OCR·음성·메타 동시 실행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9334499" y="7134225"/>
            <a:ext cx="476561" cy="326570"/>
          </a:xfrm>
          <a:prstGeom prst="roundRect">
            <a:avLst>
              <a:gd name="adj" fmla="val 12500"/>
            </a:avLst>
          </a:prstGeom>
          <a:solidFill>
            <a:srgbClr val="1976D2"/>
          </a:solidFill>
          <a:ln/>
        </p:spPr>
      </p:sp>
      <p:sp>
        <p:nvSpPr>
          <p:cNvPr id="67" name="Text 65"/>
          <p:cNvSpPr/>
          <p:nvPr/>
        </p:nvSpPr>
        <p:spPr>
          <a:xfrm>
            <a:off x="9429749" y="7172324"/>
            <a:ext cx="419713" cy="285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⑯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9823252" y="7115175"/>
            <a:ext cx="482401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백그라운드 처리 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페이지 이탈해도 진행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019175"/>
            <a:ext cx="170688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676275"/>
            <a:ext cx="76200" cy="762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4" name="Text 2"/>
          <p:cNvSpPr/>
          <p:nvPr/>
        </p:nvSpPr>
        <p:spPr>
          <a:xfrm>
            <a:off x="819150" y="581025"/>
            <a:ext cx="52139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다이어그램 2 · 검출 시퀀스 — 21단계 병렬 처리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689139" y="533400"/>
            <a:ext cx="10654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600" y="1181100"/>
            <a:ext cx="17068800" cy="8572500"/>
          </a:xfrm>
          <a:prstGeom prst="roundRect">
            <a:avLst>
              <a:gd name="adj" fmla="val 889"/>
            </a:avLst>
          </a:prstGeom>
          <a:solidFill>
            <a:srgbClr val="FAFAFA"/>
          </a:solidFill>
          <a:ln w="9525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116" y="1419225"/>
            <a:ext cx="8995767" cy="80961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00125"/>
            <a:ext cx="164592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676275"/>
            <a:ext cx="76200" cy="76200"/>
          </a:xfrm>
          <a:prstGeom prst="ellipse">
            <a:avLst/>
          </a:prstGeom>
          <a:solidFill>
            <a:srgbClr val="ED6C02"/>
          </a:solidFill>
          <a:ln/>
        </p:spPr>
      </p:sp>
      <p:sp>
        <p:nvSpPr>
          <p:cNvPr id="4" name="Text 2"/>
          <p:cNvSpPr/>
          <p:nvPr/>
        </p:nvSpPr>
        <p:spPr>
          <a:xfrm>
            <a:off x="1123950" y="581025"/>
            <a:ext cx="41901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다이어그램 3 · 치환 시퀀스 </a:t>
            </a:r>
            <a:r>
              <a:rPr lang="en-US" sz="1800" kern="0" spc="30" dirty="0">
                <a:solidFill>
                  <a:srgbClr val="ED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핵심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384339" y="533400"/>
            <a:ext cx="10654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200150"/>
            <a:ext cx="16952976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b="1" kern="0" spc="-7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MVP1과 v1 정식을 가르는 결제 분기 </a:t>
            </a:r>
            <a:r>
              <a:rPr lang="en-US" sz="3750" b="1" kern="0" spc="-75" dirty="0">
                <a:solidFill>
                  <a:srgbClr val="ED6C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3750" dirty="0"/>
          </a:p>
        </p:txBody>
      </p:sp>
      <p:sp>
        <p:nvSpPr>
          <p:cNvPr id="7" name="Shape 5"/>
          <p:cNvSpPr/>
          <p:nvPr/>
        </p:nvSpPr>
        <p:spPr>
          <a:xfrm>
            <a:off x="914400" y="1838325"/>
            <a:ext cx="2443609" cy="438150"/>
          </a:xfrm>
          <a:prstGeom prst="roundRect">
            <a:avLst>
              <a:gd name="adj" fmla="val 50000"/>
            </a:avLst>
          </a:prstGeom>
          <a:solidFill>
            <a:srgbClr val="1976D2">
              <a:alpha val="8000"/>
            </a:srgbClr>
          </a:solidFill>
          <a:ln w="9525">
            <a:solidFill>
              <a:srgbClr val="1976D2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6325" y="1924050"/>
            <a:ext cx="21959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sequenceDiagram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53259" y="1838325"/>
            <a:ext cx="2330202" cy="438150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 w="9525">
            <a:solidFill>
              <a:srgbClr val="ED6C0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5184" y="1924050"/>
            <a:ext cx="20825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MVP1 / v1 분기점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878711" y="1838325"/>
            <a:ext cx="1680121" cy="4381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9525">
            <a:solidFill>
              <a:srgbClr val="9E9E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40636" y="1924050"/>
            <a:ext cx="14324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24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 위탁 결제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505075"/>
            <a:ext cx="147161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다이어그램 중 </a:t>
            </a:r>
            <a:r>
              <a:rPr lang="en-US" sz="1725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중요</a:t>
            </a:r>
            <a:r>
              <a:rPr lang="en-US" sz="172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MVP1과 v1 정식의 차이가 명확히 드러나는 결제 분기 흐름.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914400" y="3067050"/>
            <a:ext cx="16459200" cy="2371725"/>
          </a:xfrm>
          <a:prstGeom prst="roundRect">
            <a:avLst>
              <a:gd name="adj" fmla="val 3213"/>
            </a:avLst>
          </a:prstGeom>
          <a:solidFill>
            <a:srgbClr val="FAFAFA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2525" y="3805237"/>
            <a:ext cx="2209800" cy="895350"/>
          </a:xfrm>
          <a:prstGeom prst="roundRect">
            <a:avLst>
              <a:gd name="adj" fmla="val 8511"/>
            </a:avLst>
          </a:prstGeom>
          <a:solidFill>
            <a:srgbClr val="1976D2"/>
          </a:solidFill>
          <a:ln/>
        </p:spPr>
      </p:sp>
      <p:sp>
        <p:nvSpPr>
          <p:cNvPr id="16" name="Text 14"/>
          <p:cNvSpPr/>
          <p:nvPr/>
        </p:nvSpPr>
        <p:spPr>
          <a:xfrm>
            <a:off x="1266825" y="3976687"/>
            <a:ext cx="19812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highlight>
                  <a:srgbClr val="1976D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페이지 10 "보안 처리 요청"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3571875" y="3267075"/>
            <a:ext cx="13563600" cy="581025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000000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3800" y="3381375"/>
            <a:ext cx="1905000" cy="352425"/>
          </a:xfrm>
          <a:prstGeom prst="roundRect">
            <a:avLst>
              <a:gd name="adj" fmla="val 10811"/>
            </a:avLst>
          </a:prstGeom>
          <a:solidFill>
            <a:srgbClr val="EDF7ED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19525" y="3448050"/>
            <a:ext cx="17335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10250" y="3443288"/>
            <a:ext cx="102059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단계 우회 — 시연 단계에서는 결제 없이 처리 진행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15630525" y="3448050"/>
            <a:ext cx="14192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페이지 15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571875" y="3962400"/>
            <a:ext cx="13563600" cy="581025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000000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33800" y="4076700"/>
            <a:ext cx="1905000" cy="352425"/>
          </a:xfrm>
          <a:prstGeom prst="roundRect">
            <a:avLst>
              <a:gd name="adj" fmla="val 10811"/>
            </a:avLst>
          </a:prstGeom>
          <a:solidFill>
            <a:srgbClr val="FFF4E5"/>
          </a:solidFill>
          <a:ln w="9525">
            <a:solidFill>
              <a:srgbClr val="ED6C0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19525" y="4143375"/>
            <a:ext cx="17335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· 비결제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10250" y="4138613"/>
            <a:ext cx="102059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 13 결제 게이트 → PG 위탁 결제 (B-1) → 페이지 15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15630525" y="4143375"/>
            <a:ext cx="14192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페이지 15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571875" y="4657725"/>
            <a:ext cx="13563600" cy="581025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000000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33800" y="4772025"/>
            <a:ext cx="1905000" cy="352425"/>
          </a:xfrm>
          <a:prstGeom prst="roundRect">
            <a:avLst>
              <a:gd name="adj" fmla="val 10811"/>
            </a:avLst>
          </a:prstGeom>
          <a:solidFill>
            <a:srgbClr val="FFF4E5"/>
          </a:solidFill>
          <a:ln w="9525">
            <a:solidFill>
              <a:srgbClr val="ED6C0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19525" y="4838700"/>
            <a:ext cx="17335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· Pro 잔여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810250" y="4833938"/>
            <a:ext cx="102059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한도 잔여 시 직행 — 결제 단계 우회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15630525" y="4838700"/>
            <a:ext cx="14192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페이지 15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14400" y="5705475"/>
            <a:ext cx="169529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 단계 (WORKER 내부)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14400" y="6238875"/>
            <a:ext cx="2908697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9525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013645" y="6353175"/>
            <a:ext cx="27102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 전체 합성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874716" y="6343650"/>
            <a:ext cx="29959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922294" y="6238875"/>
            <a:ext cx="2908697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9525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021538" y="6353175"/>
            <a:ext cx="27102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마스킹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882610" y="6343650"/>
            <a:ext cx="29959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2930188" y="6238875"/>
            <a:ext cx="2908846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9525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3029430" y="6353175"/>
            <a:ext cx="27103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얼굴 마스킹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5934283" y="6115050"/>
            <a:ext cx="1439317" cy="723900"/>
          </a:xfrm>
          <a:prstGeom prst="roundRect">
            <a:avLst>
              <a:gd name="adj" fmla="val 7895"/>
            </a:avLst>
          </a:prstGeom>
          <a:solidFill>
            <a:srgbClr val="FFF4E5"/>
          </a:solidFill>
          <a:ln w="9525">
            <a:solidFill>
              <a:srgbClr val="ED6C02"/>
            </a:solidFill>
            <a:prstDash val="solid"/>
          </a:ln>
          <a:effectLst>
            <a:outerShdw blurRad="9525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6039058" y="6229350"/>
            <a:ext cx="12297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E65100"/>
                </a:solidFill>
                <a:highlight>
                  <a:srgbClr val="FFF4E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스테가노그래피 워터마크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71550" y="7038975"/>
            <a:ext cx="2839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274564" y="6934200"/>
            <a:ext cx="16099036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9525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175954" y="7048500"/>
            <a:ext cx="1629625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FFmpeg 재인코딩 — 입력 포맷과 동일하게 (UX)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14400" y="7677150"/>
            <a:ext cx="169529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정책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914400" y="7991475"/>
            <a:ext cx="277564" cy="257175"/>
          </a:xfrm>
          <a:prstGeom prst="roundRect">
            <a:avLst>
              <a:gd name="adj" fmla="val 14815"/>
            </a:avLst>
          </a:prstGeom>
          <a:solidFill>
            <a:srgbClr val="1976D2"/>
          </a:solidFill>
          <a:ln/>
        </p:spPr>
      </p:sp>
      <p:sp>
        <p:nvSpPr>
          <p:cNvPr id="48" name="Text 46"/>
          <p:cNvSpPr/>
          <p:nvPr/>
        </p:nvSpPr>
        <p:spPr>
          <a:xfrm>
            <a:off x="1000125" y="8020050"/>
            <a:ext cx="1823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1325314" y="7972425"/>
            <a:ext cx="455339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3분기 </a:t>
            </a: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MVP1 우회 / v1 결제 / Pro 잔여 우회</a:t>
            </a:r>
            <a:endParaRPr lang="en-US" sz="1575" dirty="0"/>
          </a:p>
        </p:txBody>
      </p:sp>
      <p:sp>
        <p:nvSpPr>
          <p:cNvPr id="50" name="Shape 48"/>
          <p:cNvSpPr/>
          <p:nvPr/>
        </p:nvSpPr>
        <p:spPr>
          <a:xfrm>
            <a:off x="914400" y="8382000"/>
            <a:ext cx="277564" cy="257175"/>
          </a:xfrm>
          <a:prstGeom prst="roundRect">
            <a:avLst>
              <a:gd name="adj" fmla="val 14815"/>
            </a:avLst>
          </a:prstGeom>
          <a:solidFill>
            <a:srgbClr val="2E7D32"/>
          </a:solidFill>
          <a:ln/>
        </p:spPr>
      </p:sp>
      <p:sp>
        <p:nvSpPr>
          <p:cNvPr id="51" name="Text 49"/>
          <p:cNvSpPr/>
          <p:nvPr/>
        </p:nvSpPr>
        <p:spPr>
          <a:xfrm>
            <a:off x="1000125" y="8410575"/>
            <a:ext cx="1823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⑥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1325314" y="8362950"/>
            <a:ext cx="34886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 위탁 </a:t>
            </a: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카드번호 Garim 미보관</a:t>
            </a:r>
            <a:endParaRPr lang="en-US" sz="1575" dirty="0"/>
          </a:p>
        </p:txBody>
      </p:sp>
      <p:sp>
        <p:nvSpPr>
          <p:cNvPr id="53" name="Shape 51"/>
          <p:cNvSpPr/>
          <p:nvPr/>
        </p:nvSpPr>
        <p:spPr>
          <a:xfrm>
            <a:off x="914400" y="8772525"/>
            <a:ext cx="277564" cy="257175"/>
          </a:xfrm>
          <a:prstGeom prst="roundRect">
            <a:avLst>
              <a:gd name="adj" fmla="val 14815"/>
            </a:avLst>
          </a:prstGeom>
          <a:solidFill>
            <a:srgbClr val="1976D2"/>
          </a:solidFill>
          <a:ln/>
        </p:spPr>
      </p:sp>
      <p:sp>
        <p:nvSpPr>
          <p:cNvPr id="54" name="Text 52"/>
          <p:cNvSpPr/>
          <p:nvPr/>
        </p:nvSpPr>
        <p:spPr>
          <a:xfrm>
            <a:off x="1000125" y="8801100"/>
            <a:ext cx="1823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⑧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1325314" y="8753475"/>
            <a:ext cx="45194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글자 수 강제 </a:t>
            </a: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원본 3자 → 지정도 3자 (STE)</a:t>
            </a:r>
            <a:endParaRPr lang="en-US" sz="1575" dirty="0"/>
          </a:p>
        </p:txBody>
      </p:sp>
      <p:sp>
        <p:nvSpPr>
          <p:cNvPr id="56" name="Shape 54"/>
          <p:cNvSpPr/>
          <p:nvPr/>
        </p:nvSpPr>
        <p:spPr>
          <a:xfrm>
            <a:off x="914400" y="9163050"/>
            <a:ext cx="531763" cy="257175"/>
          </a:xfrm>
          <a:prstGeom prst="roundRect">
            <a:avLst>
              <a:gd name="adj" fmla="val 14815"/>
            </a:avLst>
          </a:prstGeom>
          <a:solidFill>
            <a:srgbClr val="2E7D32"/>
          </a:solidFill>
          <a:ln/>
        </p:spPr>
      </p:sp>
      <p:sp>
        <p:nvSpPr>
          <p:cNvPr id="57" name="Text 55"/>
          <p:cNvSpPr/>
          <p:nvPr/>
        </p:nvSpPr>
        <p:spPr>
          <a:xfrm>
            <a:off x="1000125" y="9191625"/>
            <a:ext cx="43651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⑨~⑩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1579513" y="9144000"/>
            <a:ext cx="36984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익명 호출 </a:t>
            </a: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원본 데이터 미전송</a:t>
            </a:r>
            <a:endParaRPr lang="en-US" sz="1575" dirty="0"/>
          </a:p>
        </p:txBody>
      </p:sp>
      <p:sp>
        <p:nvSpPr>
          <p:cNvPr id="59" name="Shape 57"/>
          <p:cNvSpPr/>
          <p:nvPr/>
        </p:nvSpPr>
        <p:spPr>
          <a:xfrm>
            <a:off x="9334500" y="7991475"/>
            <a:ext cx="319832" cy="257175"/>
          </a:xfrm>
          <a:prstGeom prst="roundRect">
            <a:avLst>
              <a:gd name="adj" fmla="val 14815"/>
            </a:avLst>
          </a:prstGeom>
          <a:solidFill>
            <a:srgbClr val="1976D2"/>
          </a:solidFill>
          <a:ln/>
        </p:spPr>
      </p:sp>
      <p:sp>
        <p:nvSpPr>
          <p:cNvPr id="60" name="Text 58"/>
          <p:cNvSpPr/>
          <p:nvPr/>
        </p:nvSpPr>
        <p:spPr>
          <a:xfrm>
            <a:off x="9420225" y="8020050"/>
            <a:ext cx="2245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⑫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9787682" y="7972425"/>
            <a:ext cx="44186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미리보기 샘플 </a:t>
            </a: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일부 항목만 합성 (비용 절감)</a:t>
            </a:r>
            <a:endParaRPr lang="en-US" sz="1575" dirty="0"/>
          </a:p>
        </p:txBody>
      </p:sp>
      <p:sp>
        <p:nvSpPr>
          <p:cNvPr id="62" name="Shape 60"/>
          <p:cNvSpPr/>
          <p:nvPr/>
        </p:nvSpPr>
        <p:spPr>
          <a:xfrm>
            <a:off x="9334500" y="8382000"/>
            <a:ext cx="319832" cy="257175"/>
          </a:xfrm>
          <a:prstGeom prst="roundRect">
            <a:avLst>
              <a:gd name="adj" fmla="val 14815"/>
            </a:avLst>
          </a:prstGeom>
          <a:solidFill>
            <a:srgbClr val="D32F2F"/>
          </a:solidFill>
          <a:ln/>
        </p:spPr>
      </p:sp>
      <p:sp>
        <p:nvSpPr>
          <p:cNvPr id="63" name="Text 61"/>
          <p:cNvSpPr/>
          <p:nvPr/>
        </p:nvSpPr>
        <p:spPr>
          <a:xfrm>
            <a:off x="9420225" y="8410575"/>
            <a:ext cx="2245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⑲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9787682" y="8362950"/>
            <a:ext cx="44186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워터마크 항상 </a:t>
            </a: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사용자 선택 불가 (악용 방지)</a:t>
            </a:r>
            <a:endParaRPr lang="en-US" sz="1575" dirty="0"/>
          </a:p>
        </p:txBody>
      </p:sp>
      <p:sp>
        <p:nvSpPr>
          <p:cNvPr id="65" name="Shape 63"/>
          <p:cNvSpPr/>
          <p:nvPr/>
        </p:nvSpPr>
        <p:spPr>
          <a:xfrm>
            <a:off x="9334500" y="8772525"/>
            <a:ext cx="319832" cy="257175"/>
          </a:xfrm>
          <a:prstGeom prst="roundRect">
            <a:avLst>
              <a:gd name="adj" fmla="val 14815"/>
            </a:avLst>
          </a:prstGeom>
          <a:solidFill>
            <a:srgbClr val="1976D2"/>
          </a:solidFill>
          <a:ln/>
        </p:spPr>
      </p:sp>
      <p:sp>
        <p:nvSpPr>
          <p:cNvPr id="66" name="Text 64"/>
          <p:cNvSpPr/>
          <p:nvPr/>
        </p:nvSpPr>
        <p:spPr>
          <a:xfrm>
            <a:off x="9420225" y="8801100"/>
            <a:ext cx="2245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㉑</a:t>
            </a:r>
            <a:endParaRPr lang="en-US" sz="1350" dirty="0"/>
          </a:p>
        </p:txBody>
      </p:sp>
      <p:sp>
        <p:nvSpPr>
          <p:cNvPr id="67" name="Text 65"/>
          <p:cNvSpPr/>
          <p:nvPr/>
        </p:nvSpPr>
        <p:spPr>
          <a:xfrm>
            <a:off x="9787682" y="8753475"/>
            <a:ext cx="378441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재인코딩 </a:t>
            </a: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입력 포맷과 동일하게 (UX)</a:t>
            </a:r>
            <a:endParaRPr lang="en-US" sz="1575" dirty="0"/>
          </a:p>
        </p:txBody>
      </p:sp>
      <p:sp>
        <p:nvSpPr>
          <p:cNvPr id="68" name="Shape 66"/>
          <p:cNvSpPr/>
          <p:nvPr/>
        </p:nvSpPr>
        <p:spPr>
          <a:xfrm>
            <a:off x="9334500" y="9163050"/>
            <a:ext cx="319832" cy="257175"/>
          </a:xfrm>
          <a:prstGeom prst="roundRect">
            <a:avLst>
              <a:gd name="adj" fmla="val 14815"/>
            </a:avLst>
          </a:prstGeom>
          <a:solidFill>
            <a:srgbClr val="2E7D32"/>
          </a:solidFill>
          <a:ln/>
        </p:spPr>
      </p:sp>
      <p:sp>
        <p:nvSpPr>
          <p:cNvPr id="69" name="Text 67"/>
          <p:cNvSpPr/>
          <p:nvPr/>
        </p:nvSpPr>
        <p:spPr>
          <a:xfrm>
            <a:off x="9420225" y="9191625"/>
            <a:ext cx="2245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㉒</a:t>
            </a:r>
            <a:endParaRPr lang="en-US" sz="1350" dirty="0"/>
          </a:p>
        </p:txBody>
      </p:sp>
      <p:sp>
        <p:nvSpPr>
          <p:cNvPr id="70" name="Text 68"/>
          <p:cNvSpPr/>
          <p:nvPr/>
        </p:nvSpPr>
        <p:spPr>
          <a:xfrm>
            <a:off x="9787682" y="9144000"/>
            <a:ext cx="31768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24시간 TTL </a:t>
            </a: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결과물 자동 삭제</a:t>
            </a:r>
            <a:endParaRPr lang="en-US" sz="15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019175"/>
            <a:ext cx="170688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676275"/>
            <a:ext cx="76200" cy="76200"/>
          </a:xfrm>
          <a:prstGeom prst="ellipse">
            <a:avLst/>
          </a:prstGeom>
          <a:solidFill>
            <a:srgbClr val="ED6C02"/>
          </a:solidFill>
          <a:ln/>
        </p:spPr>
      </p:sp>
      <p:sp>
        <p:nvSpPr>
          <p:cNvPr id="4" name="Text 2"/>
          <p:cNvSpPr/>
          <p:nvPr/>
        </p:nvSpPr>
        <p:spPr>
          <a:xfrm>
            <a:off x="819150" y="581024"/>
            <a:ext cx="7199338" cy="400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다이어그램 3 · 치환 시퀀스 ★ — MVP1 / v1 분기 + 합성 파이프라인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689139" y="533400"/>
            <a:ext cx="10654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600" y="1181100"/>
            <a:ext cx="17068800" cy="8572500"/>
          </a:xfrm>
          <a:prstGeom prst="roundRect">
            <a:avLst>
              <a:gd name="adj" fmla="val 889"/>
            </a:avLst>
          </a:prstGeom>
          <a:solidFill>
            <a:srgbClr val="FAFAFA"/>
          </a:solidFill>
          <a:ln w="9525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508" y="1419225"/>
            <a:ext cx="7964984" cy="80961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00125"/>
            <a:ext cx="164592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676275"/>
            <a:ext cx="76200" cy="762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4" name="Text 2"/>
          <p:cNvSpPr/>
          <p:nvPr/>
        </p:nvSpPr>
        <p:spPr>
          <a:xfrm>
            <a:off x="1123949" y="581025"/>
            <a:ext cx="42627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다이어그램 4 · SNS 셀프 점검 시퀀스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384339" y="533400"/>
            <a:ext cx="10654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200150"/>
            <a:ext cx="16952976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b="1" kern="0" spc="-7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읽기 전용 Graph API + 사용자 직접 재업로드</a:t>
            </a:r>
            <a:endParaRPr lang="en-US" sz="3750" dirty="0"/>
          </a:p>
        </p:txBody>
      </p:sp>
      <p:sp>
        <p:nvSpPr>
          <p:cNvPr id="7" name="Shape 5"/>
          <p:cNvSpPr/>
          <p:nvPr/>
        </p:nvSpPr>
        <p:spPr>
          <a:xfrm>
            <a:off x="914400" y="1838325"/>
            <a:ext cx="2443609" cy="438150"/>
          </a:xfrm>
          <a:prstGeom prst="roundRect">
            <a:avLst>
              <a:gd name="adj" fmla="val 50000"/>
            </a:avLst>
          </a:prstGeom>
          <a:solidFill>
            <a:srgbClr val="1976D2">
              <a:alpha val="8000"/>
            </a:srgbClr>
          </a:solidFill>
          <a:ln w="9525">
            <a:solidFill>
              <a:srgbClr val="1976D2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6325" y="1924050"/>
            <a:ext cx="21959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sequenceDiagram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53259" y="1838325"/>
            <a:ext cx="2019151" cy="438150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 w="9525">
            <a:solidFill>
              <a:srgbClr val="ED6C0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5184" y="1924050"/>
            <a:ext cx="177150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B-2 재설계 핵심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567660" y="1838325"/>
            <a:ext cx="3008858" cy="4381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9525">
            <a:solidFill>
              <a:srgbClr val="9E9E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29585" y="1924050"/>
            <a:ext cx="27752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242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Instagram Graph API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505075"/>
            <a:ext cx="147161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72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 Instagram 계정의 OAuth 연결부터 게시물 진단까지. </a:t>
            </a:r>
            <a:r>
              <a:rPr lang="en-US" sz="1725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읽기 전용 권한 + 사용자 직접 재업로드</a:t>
            </a:r>
            <a:r>
              <a:rPr lang="en-US" sz="172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B-2 정책의 핵심.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914400" y="3067050"/>
            <a:ext cx="82802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흐름 요약 — 8단계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905250"/>
            <a:ext cx="80391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28700" y="3567113"/>
            <a:ext cx="838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49676" y="3567114"/>
            <a:ext cx="627757" cy="2571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>
                    <a:alpha val="8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사용자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551807" y="3533775"/>
            <a:ext cx="64760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안내 카드 수락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14400" y="4486275"/>
            <a:ext cx="80391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700" y="4148137"/>
            <a:ext cx="838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49676" y="4148137"/>
            <a:ext cx="10182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>
                    <a:alpha val="8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Facebook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999482" y="4114800"/>
            <a:ext cx="60149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인증 + 권한 동의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914400" y="5067300"/>
            <a:ext cx="80391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28700" y="4729163"/>
            <a:ext cx="838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49676" y="4729163"/>
            <a:ext cx="14893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>
                    <a:alpha val="8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 Graph API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470523" y="4695825"/>
            <a:ext cx="552973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게시물 메타데이터 + 미디어 URL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14400" y="5648325"/>
            <a:ext cx="80391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028700" y="5310188"/>
            <a:ext cx="838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549676" y="5310188"/>
            <a:ext cx="14893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>
                    <a:alpha val="8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Workers loop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470523" y="5276850"/>
            <a:ext cx="552973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게시물별 </a:t>
            </a:r>
            <a:r>
              <a:rPr lang="en-US" sz="16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검출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914400" y="6229350"/>
            <a:ext cx="80391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28700" y="5891213"/>
            <a:ext cx="838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⑤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549676" y="5891213"/>
            <a:ext cx="10182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>
                    <a:alpha val="8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 → FE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999482" y="5857875"/>
            <a:ext cx="60149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 결과 리포트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914400" y="6810375"/>
            <a:ext cx="80391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028700" y="6472238"/>
            <a:ext cx="838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⑥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549676" y="6472238"/>
            <a:ext cx="123021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>
                    <a:alpha val="8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→ 처리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211413" y="6438900"/>
            <a:ext cx="57966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게시물 "처리하기" → 치환 시퀀스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914400" y="7391400"/>
            <a:ext cx="80391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028700" y="7053263"/>
            <a:ext cx="838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⑦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549676" y="7053263"/>
            <a:ext cx="113615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>
                    <a:alpha val="8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 → User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3117354" y="7019925"/>
            <a:ext cx="58935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처리된 미디어 다운로드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914400" y="7972425"/>
            <a:ext cx="80391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028700" y="7629525"/>
            <a:ext cx="838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⑧ ★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549676" y="7634288"/>
            <a:ext cx="101798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>
                    <a:alpha val="8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사용자 직접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2999184" y="7600950"/>
            <a:ext cx="60152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인스타에서 기존 삭제 + 새 업로드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914400" y="8153400"/>
            <a:ext cx="828027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정책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914400" y="8467725"/>
            <a:ext cx="319832" cy="257175"/>
          </a:xfrm>
          <a:prstGeom prst="roundRect">
            <a:avLst>
              <a:gd name="adj" fmla="val 14815"/>
            </a:avLst>
          </a:prstGeom>
          <a:solidFill>
            <a:srgbClr val="1976D2"/>
          </a:solidFill>
          <a:ln/>
        </p:spPr>
      </p:sp>
      <p:sp>
        <p:nvSpPr>
          <p:cNvPr id="49" name="Text 47"/>
          <p:cNvSpPr/>
          <p:nvPr/>
        </p:nvSpPr>
        <p:spPr>
          <a:xfrm>
            <a:off x="1000125" y="8496300"/>
            <a:ext cx="2245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⑩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1367582" y="8448676"/>
            <a:ext cx="34328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메모리 보관만 </a:t>
            </a: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영구 저장 X</a:t>
            </a:r>
            <a:endParaRPr lang="en-US" sz="1575" dirty="0"/>
          </a:p>
        </p:txBody>
      </p:sp>
      <p:sp>
        <p:nvSpPr>
          <p:cNvPr id="51" name="Shape 49"/>
          <p:cNvSpPr/>
          <p:nvPr/>
        </p:nvSpPr>
        <p:spPr>
          <a:xfrm>
            <a:off x="914400" y="8839200"/>
            <a:ext cx="319832" cy="257175"/>
          </a:xfrm>
          <a:prstGeom prst="roundRect">
            <a:avLst>
              <a:gd name="adj" fmla="val 14815"/>
            </a:avLst>
          </a:prstGeom>
          <a:solidFill>
            <a:srgbClr val="D32F2F"/>
          </a:solidFill>
          <a:ln/>
        </p:spPr>
      </p:sp>
      <p:sp>
        <p:nvSpPr>
          <p:cNvPr id="52" name="Text 50"/>
          <p:cNvSpPr/>
          <p:nvPr/>
        </p:nvSpPr>
        <p:spPr>
          <a:xfrm>
            <a:off x="1000125" y="8867775"/>
            <a:ext cx="2245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⑫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1367582" y="8820151"/>
            <a:ext cx="40597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비-비즈니스 계정 </a:t>
            </a: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불가 — 전환 안내</a:t>
            </a:r>
            <a:endParaRPr lang="en-US" sz="1575" dirty="0"/>
          </a:p>
        </p:txBody>
      </p:sp>
      <p:sp>
        <p:nvSpPr>
          <p:cNvPr id="54" name="Shape 52"/>
          <p:cNvSpPr/>
          <p:nvPr/>
        </p:nvSpPr>
        <p:spPr>
          <a:xfrm>
            <a:off x="914400" y="9210675"/>
            <a:ext cx="319832" cy="257175"/>
          </a:xfrm>
          <a:prstGeom prst="roundRect">
            <a:avLst>
              <a:gd name="adj" fmla="val 14815"/>
            </a:avLst>
          </a:prstGeom>
          <a:solidFill>
            <a:srgbClr val="2E7D32"/>
          </a:solidFill>
          <a:ln/>
        </p:spPr>
      </p:sp>
      <p:sp>
        <p:nvSpPr>
          <p:cNvPr id="55" name="Text 53"/>
          <p:cNvSpPr/>
          <p:nvPr/>
        </p:nvSpPr>
        <p:spPr>
          <a:xfrm>
            <a:off x="1000125" y="9239250"/>
            <a:ext cx="2245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⑱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1367582" y="9191626"/>
            <a:ext cx="32176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임시 다운로드 </a:t>
            </a: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검출 후 즉시 삭제</a:t>
            </a:r>
            <a:endParaRPr lang="en-US" sz="1575" dirty="0"/>
          </a:p>
        </p:txBody>
      </p:sp>
      <p:sp>
        <p:nvSpPr>
          <p:cNvPr id="57" name="Text 55"/>
          <p:cNvSpPr/>
          <p:nvPr/>
        </p:nvSpPr>
        <p:spPr>
          <a:xfrm>
            <a:off x="9334500" y="3067050"/>
            <a:ext cx="82802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B-2 정책 — Graph API 권한 범위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9334500" y="3448050"/>
            <a:ext cx="3924300" cy="2076450"/>
          </a:xfrm>
          <a:prstGeom prst="roundRect">
            <a:avLst>
              <a:gd name="adj" fmla="val 3670"/>
            </a:avLst>
          </a:prstGeom>
          <a:solidFill>
            <a:srgbClr val="EDF7ED"/>
          </a:solidFill>
          <a:ln w="14288">
            <a:solidFill>
              <a:srgbClr val="2E7D3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15488" y="3705225"/>
            <a:ext cx="133394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check_circle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0968484" y="3690938"/>
            <a:ext cx="2402461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받는 권한 (읽기 전용)</a:t>
            </a:r>
            <a:endParaRPr lang="en-US" sz="1725" dirty="0"/>
          </a:p>
        </p:txBody>
      </p:sp>
      <p:sp>
        <p:nvSpPr>
          <p:cNvPr id="61" name="Text 59"/>
          <p:cNvSpPr/>
          <p:nvPr/>
        </p:nvSpPr>
        <p:spPr>
          <a:xfrm>
            <a:off x="9672638" y="4043363"/>
            <a:ext cx="3381375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33350" indent="-133350" algn="l">
              <a:lnSpc>
                <a:spcPct val="14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게시물 메타데이터 (썸네일·게시일·위치 태그·캡션)</a:t>
            </a:r>
            <a:endParaRPr lang="en-US" sz="1500" dirty="0"/>
          </a:p>
          <a:p>
            <a:pPr marL="133350" indent="-133350" algn="l">
              <a:lnSpc>
                <a:spcPct val="14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미디어 파일 URL</a:t>
            </a:r>
            <a:endParaRPr lang="en-US" sz="1500" dirty="0"/>
          </a:p>
          <a:p>
            <a:pPr marL="133350" indent="-133350" algn="l">
              <a:lnSpc>
                <a:spcPct val="14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프로필 (사용자명·프로필 사진)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13449300" y="3448050"/>
            <a:ext cx="3924300" cy="2076450"/>
          </a:xfrm>
          <a:prstGeom prst="roundRect">
            <a:avLst>
              <a:gd name="adj" fmla="val 3670"/>
            </a:avLst>
          </a:prstGeom>
          <a:solidFill>
            <a:srgbClr val="FDEDED"/>
          </a:solidFill>
          <a:ln w="14288">
            <a:solidFill>
              <a:srgbClr val="D32F2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730288" y="3705225"/>
            <a:ext cx="60989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4359234" y="3690938"/>
            <a:ext cx="2126469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요청하지 않는 권한</a:t>
            </a:r>
            <a:endParaRPr lang="en-US" sz="1725" dirty="0"/>
          </a:p>
        </p:txBody>
      </p:sp>
      <p:sp>
        <p:nvSpPr>
          <p:cNvPr id="65" name="Text 63"/>
          <p:cNvSpPr/>
          <p:nvPr/>
        </p:nvSpPr>
        <p:spPr>
          <a:xfrm>
            <a:off x="13787438" y="4043363"/>
            <a:ext cx="338137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33350" indent="-133350" algn="l">
              <a:lnSpc>
                <a:spcPct val="14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접근</a:t>
            </a:r>
            <a:endParaRPr lang="en-US" sz="1500" dirty="0"/>
          </a:p>
          <a:p>
            <a:pPr marL="133350" indent="-133350" algn="l">
              <a:lnSpc>
                <a:spcPct val="14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팔로워·팔로잉 목록</a:t>
            </a:r>
            <a:endParaRPr lang="en-US" sz="1500" dirty="0"/>
          </a:p>
          <a:p>
            <a:pPr marL="133350" indent="-133350" algn="l">
              <a:lnSpc>
                <a:spcPct val="14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게시·삭제·수정·댓글 권한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9334500" y="5695950"/>
            <a:ext cx="8039100" cy="1333500"/>
          </a:xfrm>
          <a:prstGeom prst="roundRect">
            <a:avLst>
              <a:gd name="adj" fmla="val 5714"/>
            </a:avLst>
          </a:prstGeom>
          <a:solidFill>
            <a:srgbClr val="F5EDFF"/>
          </a:solidFill>
          <a:ln w="9525">
            <a:solidFill>
              <a:srgbClr val="9747FF"/>
            </a:solidFill>
            <a:prstDash val="solid"/>
          </a:ln>
          <a:effectLst>
            <a:outerShdw blurRad="9525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9553575" y="5929313"/>
            <a:ext cx="161925" cy="161925"/>
          </a:xfrm>
          <a:prstGeom prst="roundRect">
            <a:avLst>
              <a:gd name="adj" fmla="val 23529"/>
            </a:avLst>
          </a:prstGeom>
          <a:ln w="14288">
            <a:solidFill>
              <a:srgbClr val="5E35B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810750" y="5876924"/>
            <a:ext cx="183791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㉔~㉖ · B-2 핵심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9553575" y="6257925"/>
            <a:ext cx="782897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Garim은 인스타에 자동 게시·삭제하지 않습니다. </a:t>
            </a:r>
            <a:r>
              <a:rPr lang="en-US" sz="157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사용자가 다운로드, ② 직접 기존 게시물 삭제, ③ 새 버전 업로드. v2에서 정기 스캔이 스케줄러로 자동 반복됩니다.</a:t>
            </a:r>
            <a:endParaRPr lang="en-US" sz="15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019175"/>
            <a:ext cx="170688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676275"/>
            <a:ext cx="76200" cy="762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4" name="Text 2"/>
          <p:cNvSpPr/>
          <p:nvPr/>
        </p:nvSpPr>
        <p:spPr>
          <a:xfrm>
            <a:off x="819150" y="581024"/>
            <a:ext cx="7953789" cy="3618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다이어그램 4 · SNS 셀프 점검 — OAuth → 진단 → 사용자 직접 재업로드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689139" y="533400"/>
            <a:ext cx="10654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600" y="1181100"/>
            <a:ext cx="17068800" cy="8572500"/>
          </a:xfrm>
          <a:prstGeom prst="roundRect">
            <a:avLst>
              <a:gd name="adj" fmla="val 889"/>
            </a:avLst>
          </a:prstGeom>
          <a:solidFill>
            <a:srgbClr val="FAFAFA"/>
          </a:solidFill>
          <a:ln w="9525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772" y="1419225"/>
            <a:ext cx="8692455" cy="80961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304925"/>
            <a:ext cx="164592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904875"/>
            <a:ext cx="76200" cy="762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4" name="Text 2"/>
          <p:cNvSpPr/>
          <p:nvPr/>
        </p:nvSpPr>
        <p:spPr>
          <a:xfrm>
            <a:off x="1123950" y="809624"/>
            <a:ext cx="141052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가이드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384339" y="762000"/>
            <a:ext cx="10654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57350"/>
            <a:ext cx="1695297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75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도구별 시각화 — Mermaid 코드 → SVG / PNG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914400" y="2590800"/>
            <a:ext cx="169529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도구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952750"/>
            <a:ext cx="5359301" cy="1590675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9525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52525" y="3171825"/>
            <a:ext cx="50295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mermaid.live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52525" y="3533775"/>
            <a:ext cx="502954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붙여넣기 → Actions → Download SVG / PNG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152525" y="3924300"/>
            <a:ext cx="4883051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52525" y="4010025"/>
            <a:ext cx="502954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다이어그램 추출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64201" y="2952750"/>
            <a:ext cx="5359450" cy="1590675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9525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02326" y="3171825"/>
            <a:ext cx="50296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claude.ai 아티팩트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702326" y="3533775"/>
            <a:ext cx="502969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 mermaid 코드를 SVG로 시각화" 요청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702326" y="3924300"/>
            <a:ext cx="48832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702326" y="4010025"/>
            <a:ext cx="502969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인터랙티브 미리보기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014150" y="2952750"/>
            <a:ext cx="5359301" cy="1590675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9525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252275" y="3171825"/>
            <a:ext cx="50295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Figma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252275" y="3533775"/>
            <a:ext cx="502954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 추출 → 임포트 → 컴포넌트화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2252275" y="3924300"/>
            <a:ext cx="4883051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2252275" y="4010025"/>
            <a:ext cx="502954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라이브러리 임베드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14400" y="4733925"/>
            <a:ext cx="5359301" cy="1590675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9525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52525" y="4953000"/>
            <a:ext cx="50295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README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152525" y="5314950"/>
            <a:ext cx="502954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.md 파일 push → 자동 렌더링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152525" y="5705475"/>
            <a:ext cx="4883051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152525" y="5791200"/>
            <a:ext cx="502954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 문서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464201" y="4733925"/>
            <a:ext cx="5359450" cy="1590675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9525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02326" y="4953000"/>
            <a:ext cx="50296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Notion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6702326" y="5314950"/>
            <a:ext cx="502969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블록 + mermaid 언어 지정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6702326" y="5705475"/>
            <a:ext cx="48832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702326" y="5791200"/>
            <a:ext cx="502969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워크스페이스 임베드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2014150" y="4733925"/>
            <a:ext cx="5359301" cy="1590675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9525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2252275" y="4953000"/>
            <a:ext cx="50295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draw.io · Obsidian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2252275" y="5314950"/>
            <a:ext cx="502954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00000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→ Insert → Advanced → Mermaid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2252275" y="5705475"/>
            <a:ext cx="4883051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2252275" y="5791200"/>
            <a:ext cx="502954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 편집 / 로컬 문서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14400" y="6591300"/>
            <a:ext cx="169529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AI에 넘길 때 권장 프롬프트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14400" y="6953250"/>
            <a:ext cx="16459200" cy="2886075"/>
          </a:xfrm>
          <a:prstGeom prst="roundRect">
            <a:avLst>
              <a:gd name="adj" fmla="val 2640"/>
            </a:avLst>
          </a:prstGeom>
          <a:solidFill>
            <a:srgbClr val="212121"/>
          </a:solidFill>
          <a:ln/>
        </p:spPr>
      </p:sp>
      <p:sp>
        <p:nvSpPr>
          <p:cNvPr id="40" name="Text 38"/>
          <p:cNvSpPr/>
          <p:nvPr/>
        </p:nvSpPr>
        <p:spPr>
          <a:xfrm>
            <a:off x="1162050" y="7162800"/>
            <a:ext cx="16457676" cy="2505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SVG 시각화 요청 </a:t>
            </a:r>
            <a:r>
              <a:rPr lang="en-US" sz="1800" dirty="0">
                <a:solidFill>
                  <a:srgbClr val="E6E6E6"/>
                </a:solidFill>
                <a:highlight>
                  <a:srgbClr val="212121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다음 Mermaid 다이어그램을 SVG로 시각화해줘. </a:t>
            </a:r>
            <a:r>
              <a:rPr lang="en-US" sz="1800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MUI v5 컬러:</a:t>
            </a:r>
            <a:r>
              <a:rPr lang="en-US" sz="1800" dirty="0">
                <a:solidFill>
                  <a:srgbClr val="E6E6E6"/>
                </a:solidFill>
                <a:highlight>
                  <a:srgbClr val="212121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#1976D2 · Purple #9747FF · Success #2E7D32 · Warning #ED6C02 </a:t>
            </a:r>
            <a:r>
              <a:rPr lang="en-US" sz="1800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폰트:</a:t>
            </a:r>
            <a:r>
              <a:rPr lang="en-US" sz="1800" dirty="0">
                <a:solidFill>
                  <a:srgbClr val="E6E6E6"/>
                </a:solidFill>
                <a:highlight>
                  <a:srgbClr val="212121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Pretendard </a:t>
            </a:r>
            <a:r>
              <a:rPr lang="en-US" sz="1800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단계 색상:</a:t>
            </a:r>
            <a:r>
              <a:rPr lang="en-US" sz="1800" dirty="0">
                <a:solidFill>
                  <a:srgbClr val="E6E6E6"/>
                </a:solidFill>
                <a:highlight>
                  <a:srgbClr val="212121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코드의 classDef를 따라줘 </a:t>
            </a:r>
            <a:r>
              <a:rPr lang="en-US" sz="1800" dirty="0">
                <a:solidFill>
                  <a:srgbClr val="E6E6E6"/>
                </a:solidFill>
                <a:highlight>
                  <a:srgbClr val="212121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[mermaid 코드 붙여넣기]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5250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42A5F5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52500"/>
            <a:ext cx="43308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GARIM · SYSTEM STRUCTURE V1.0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790700"/>
            <a:ext cx="16952976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0" b="1" kern="0" spc="-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끝.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914400" y="3848100"/>
            <a:ext cx="1695297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플로우 · 스트럭쳐 v1.0 — 4 다이어그램 · 12 슬라이드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6438900"/>
            <a:ext cx="89259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단계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7429500"/>
            <a:ext cx="8665964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953250"/>
            <a:ext cx="4191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90650" y="6953250"/>
            <a:ext cx="564446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AI에 시각화 요청 — 슬라이드 11 프롬프트 활용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8010525"/>
            <a:ext cx="8665964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7534275"/>
            <a:ext cx="4191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90650" y="7534275"/>
            <a:ext cx="748945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통합 — 화면설계서 PPT(41장)에 4 다이어그램 추가 · 합본 발표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8591550"/>
            <a:ext cx="8665964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8115300"/>
            <a:ext cx="4191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90650" y="8115300"/>
            <a:ext cx="833547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시스템 페이지 — 아키텍처 다이어그램을 디자인 라이브러리에 임베드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9172575"/>
            <a:ext cx="8665964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8696325"/>
            <a:ext cx="4191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90650" y="8696325"/>
            <a:ext cx="78726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단계 진입 — Component 수준 다이어그램 추가 (서비스 내부 모듈)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151864" y="6438900"/>
            <a:ext cx="74382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 문서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991844" y="6858000"/>
            <a:ext cx="7457807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기획서 v1.0 · 본문 8장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화면설계서 v1.0 · 27 페이지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화면설계서 PPT v1.0 · 41장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요구사항정의서 v1.0 MVP1 · 70 FR · 21 NFR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시스템 플로우·스트럭쳐 v1.0 (본 문서)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1420</Words>
  <Application>Microsoft Office PowerPoint</Application>
  <PresentationFormat>사용자 지정</PresentationFormat>
  <Paragraphs>315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human</cp:lastModifiedBy>
  <cp:revision>5</cp:revision>
  <dcterms:created xsi:type="dcterms:W3CDTF">2026-05-14T15:20:46Z</dcterms:created>
  <dcterms:modified xsi:type="dcterms:W3CDTF">2026-05-15T01:45:25Z</dcterms:modified>
</cp:coreProperties>
</file>